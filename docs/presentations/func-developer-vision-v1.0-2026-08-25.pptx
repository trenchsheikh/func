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is for developers and technical partners. It separates current prototype behaviour from production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should be shown before architecture. It prevents a developer from assuming the current in-memory model is safe to expose.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repository seam is useful, but production should return viewer-scoped read models rather than the entire world as a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feature matrix as the developer’s index. The full records live in docs/FEATURE_MATRIX.md.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canonical projected-location design. Do not add a blanket .location ban; the rule is viewer-relative safe projection.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Developers should treat acceptance as a server-authoritative transition, not a collection of UI toggles.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mock prototype already covers persona-scoped messages and fail-closed thread reads. Production adds real transport, moderation, reports, blocks, retention and notifications.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current business persona implementation is a strong privacy seed. The professional team must design the actual verification and operations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intentionally direct. It is the standard a professional developer and safety lead should accept before launch planning.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 visuals are labelled. Use real app code for hierarchy, privacy, states and factual copy; use concept art for atmosphere and future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opening storyboard is an approved direction, but the final asset and animation implementation still require a bounded design/engineering slice.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intended handoff cadence. Each stage has its own acceptance checks, fresh context, and written handover.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questions are in docs/OPEN_DECISIONS.md. The PRD does not silently resolve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giving the developer the exact document set and the expectation that conflicts stop work until reconciled.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product standard: clarity, safety, and a real night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C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1053"/>
            <a:ext cx="615163" cy="321777"/>
          </a:xfrm>
          <a:prstGeom prst="ellipse">
            <a:avLst/>
          </a:prstGeom>
          <a:solidFill>
            <a:srgbClr val="080809">
              <a:alpha val="0"/>
            </a:srgbClr>
          </a:solidFill>
          <a:ln w="10516">
            <a:solidFill>
              <a:srgbClr val="C9CB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7753" y="722033"/>
            <a:ext cx="179817" cy="179817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2171" y="776451"/>
            <a:ext cx="70980" cy="70980"/>
          </a:xfrm>
          <a:prstGeom prst="ellipse">
            <a:avLst/>
          </a:prstGeom>
          <a:solidFill>
            <a:srgbClr val="080809"/>
          </a:solidFill>
          <a:ln w="12700">
            <a:solidFill>
              <a:srgbClr val="0808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55141" y="566928"/>
            <a:ext cx="1261872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70" b="1" spc="-3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func.</a:t>
            </a:r>
            <a:endParaRPr lang="en-US" sz="2070" dirty="0"/>
          </a:p>
        </p:txBody>
      </p:sp>
      <p:sp>
        <p:nvSpPr>
          <p:cNvPr id="6" name="Text 4"/>
          <p:cNvSpPr/>
          <p:nvPr/>
        </p:nvSpPr>
        <p:spPr>
          <a:xfrm>
            <a:off x="658368" y="160020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BRIDGE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NIGHT.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implementation guide for the product we are actually building — and the production gates still ahead.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35240" y="1143000"/>
            <a:ext cx="2331720" cy="4526280"/>
          </a:xfrm>
          <a:prstGeom prst="roundRect">
            <a:avLst>
              <a:gd name="adj" fmla="val 4706"/>
            </a:avLst>
          </a:prstGeom>
          <a:solidFill>
            <a:srgbClr val="050506"/>
          </a:solidFill>
          <a:ln w="8890">
            <a:solidFill>
              <a:srgbClr val="C9CBD4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99248" y="1271016"/>
            <a:ext cx="2203704" cy="4325112"/>
          </a:xfrm>
          <a:prstGeom prst="roundRect">
            <a:avLst>
              <a:gd name="adj" fmla="val 4979"/>
            </a:avLst>
          </a:prstGeom>
          <a:solidFill>
            <a:srgbClr val="0F1013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21294" y="1188720"/>
            <a:ext cx="559613" cy="36576"/>
          </a:xfrm>
          <a:prstGeom prst="roundRect">
            <a:avLst>
              <a:gd name="adj" fmla="val 300000"/>
            </a:avLst>
          </a:prstGeom>
          <a:solidFill>
            <a:srgbClr val="20232A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08392" y="1289304"/>
            <a:ext cx="2185416" cy="2579980"/>
          </a:xfrm>
          <a:prstGeom prst="roundRect">
            <a:avLst>
              <a:gd name="adj" fmla="val 5021"/>
            </a:avLst>
          </a:prstGeom>
          <a:solidFill>
            <a:srgbClr val="0F1013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7663" y="3301688"/>
            <a:ext cx="502646" cy="-1289990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8320308" y="2011698"/>
            <a:ext cx="109271" cy="-593395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8429579" y="1418303"/>
            <a:ext cx="480792" cy="386997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910371" y="1805300"/>
            <a:ext cx="896021" cy="-309598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752100" y="1856900"/>
            <a:ext cx="502646" cy="464396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8254746" y="2321296"/>
            <a:ext cx="502646" cy="-206398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8757392" y="2114897"/>
            <a:ext cx="524500" cy="515996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281892" y="2630893"/>
            <a:ext cx="568208" cy="-309598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145475" y="1392503"/>
            <a:ext cx="152979" cy="541796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8298454" y="1934299"/>
            <a:ext cx="502646" cy="515996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8801100" y="2450295"/>
            <a:ext cx="262250" cy="851393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063350" y="3301688"/>
            <a:ext cx="480792" cy="464396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7970642" y="3817684"/>
            <a:ext cx="458937" cy="-722394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429579" y="3095290"/>
            <a:ext cx="327812" cy="-464396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8757392" y="2630893"/>
            <a:ext cx="611916" cy="-619195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69308" y="2011698"/>
            <a:ext cx="415229" cy="-283798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8364017" y="2424495"/>
            <a:ext cx="87417" cy="5160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172621" y="2914691"/>
            <a:ext cx="87417" cy="5160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8145475" y="3404887"/>
            <a:ext cx="87417" cy="5160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8954079" y="1882699"/>
            <a:ext cx="87417" cy="5160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7926934" y="2372895"/>
            <a:ext cx="87417" cy="5160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8735538" y="2863092"/>
            <a:ext cx="87417" cy="5160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9544141" y="3353288"/>
            <a:ext cx="87417" cy="5160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8516996" y="1831100"/>
            <a:ext cx="87417" cy="5160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9325600" y="2321296"/>
            <a:ext cx="87417" cy="5160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8298454" y="2811492"/>
            <a:ext cx="87417" cy="5160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9107058" y="3301688"/>
            <a:ext cx="87417" cy="5160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8079913" y="1779500"/>
            <a:ext cx="87417" cy="5160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8888517" y="2269696"/>
            <a:ext cx="87417" cy="5160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9697121" y="2759892"/>
            <a:ext cx="87417" cy="5160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8669975" y="3250088"/>
            <a:ext cx="87417" cy="5160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9478579" y="1727901"/>
            <a:ext cx="87417" cy="5160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8451433" y="2218097"/>
            <a:ext cx="87417" cy="5160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9260037" y="2708293"/>
            <a:ext cx="87417" cy="51600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8058059" y="1904247"/>
            <a:ext cx="524500" cy="524500"/>
          </a:xfrm>
          <a:prstGeom prst="ellipse">
            <a:avLst/>
          </a:prstGeom>
          <a:solidFill>
            <a:srgbClr val="35E67B">
              <a:alpha val="25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02296" y="2048485"/>
            <a:ext cx="236025" cy="236025"/>
          </a:xfrm>
          <a:prstGeom prst="ellipse">
            <a:avLst/>
          </a:prstGeom>
          <a:solidFill>
            <a:srgbClr val="35E67B"/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57392" y="2283353"/>
            <a:ext cx="437083" cy="437083"/>
          </a:xfrm>
          <a:prstGeom prst="ellipse">
            <a:avLst/>
          </a:prstGeom>
          <a:solidFill>
            <a:srgbClr val="5E82FF">
              <a:alpha val="25000"/>
            </a:srgbClr>
          </a:solidFill>
          <a:ln w="12700">
            <a:solidFill>
              <a:srgbClr val="5E82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77590" y="2403551"/>
            <a:ext cx="196687" cy="196687"/>
          </a:xfrm>
          <a:prstGeom prst="ellipse">
            <a:avLst/>
          </a:prstGeom>
          <a:solidFill>
            <a:srgbClr val="5E82FF"/>
          </a:solidFill>
          <a:ln w="12700">
            <a:solidFill>
              <a:srgbClr val="5E82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63350" y="1715757"/>
            <a:ext cx="437083" cy="437083"/>
          </a:xfrm>
          <a:prstGeom prst="ellipse">
            <a:avLst/>
          </a:prstGeom>
          <a:solidFill>
            <a:srgbClr val="9D75FF">
              <a:alpha val="25000"/>
            </a:srgbClr>
          </a:solidFill>
          <a:ln w="12700">
            <a:solidFill>
              <a:srgbClr val="9D75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83548" y="1835955"/>
            <a:ext cx="196687" cy="196687"/>
          </a:xfrm>
          <a:prstGeom prst="ellipse">
            <a:avLst/>
          </a:prstGeom>
          <a:solidFill>
            <a:srgbClr val="9D75FF"/>
          </a:solidFill>
          <a:ln w="12700">
            <a:solidFill>
              <a:srgbClr val="9D75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40506" y="2961129"/>
            <a:ext cx="371521" cy="371521"/>
          </a:xfrm>
          <a:prstGeom prst="ellipse">
            <a:avLst/>
          </a:prstGeom>
          <a:solidFill>
            <a:srgbClr val="FF6BAE">
              <a:alpha val="25000"/>
            </a:srgbClr>
          </a:solidFill>
          <a:ln w="12700">
            <a:solidFill>
              <a:srgbClr val="FF6BAE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42675" y="3063297"/>
            <a:ext cx="167184" cy="167184"/>
          </a:xfrm>
          <a:prstGeom prst="ellipse">
            <a:avLst/>
          </a:prstGeom>
          <a:solidFill>
            <a:srgbClr val="FF6BAE"/>
          </a:solidFill>
          <a:ln w="12700">
            <a:solidFill>
              <a:srgbClr val="FF6BAE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216329" y="2898602"/>
            <a:ext cx="393375" cy="393375"/>
          </a:xfrm>
          <a:prstGeom prst="ellipse">
            <a:avLst/>
          </a:prstGeom>
          <a:solidFill>
            <a:srgbClr val="46D8EE">
              <a:alpha val="25000"/>
            </a:srgbClr>
          </a:solidFill>
          <a:ln w="12700">
            <a:solidFill>
              <a:srgbClr val="46D8EE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324507" y="3006780"/>
            <a:ext cx="177019" cy="177019"/>
          </a:xfrm>
          <a:prstGeom prst="ellipse">
            <a:avLst/>
          </a:prstGeom>
          <a:solidFill>
            <a:srgbClr val="46D8EE"/>
          </a:solidFill>
          <a:ln w="12700">
            <a:solidFill>
              <a:srgbClr val="46D8EE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26934" y="1777068"/>
            <a:ext cx="830458" cy="830458"/>
          </a:xfrm>
          <a:prstGeom prst="ellipse">
            <a:avLst/>
          </a:prstGeom>
          <a:solidFill>
            <a:srgbClr val="35E67B">
              <a:alpha val="7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79913" y="1930047"/>
            <a:ext cx="524500" cy="524500"/>
          </a:xfrm>
          <a:prstGeom prst="ellipse">
            <a:avLst/>
          </a:prstGeom>
          <a:solidFill>
            <a:srgbClr val="35E67B">
              <a:alpha val="11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905079" y="1469903"/>
            <a:ext cx="590062" cy="283798"/>
          </a:xfrm>
          <a:prstGeom prst="roundRect">
            <a:avLst>
              <a:gd name="adj" fmla="val 38664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59715" y="1508602"/>
            <a:ext cx="437083" cy="1805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CITY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818120" y="4266133"/>
            <a:ext cx="1965960" cy="769468"/>
          </a:xfrm>
          <a:prstGeom prst="roundRect">
            <a:avLst>
              <a:gd name="adj" fmla="val 14260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927848" y="4447184"/>
            <a:ext cx="1746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SHIFT / MISSION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927848" y="4673498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something alive nearby.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726680" y="5742432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125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+ FUTURE VISION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CURRENT TRUTH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credible prototype — not a production app.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distinction is a requirement, not a disclaimer to hide.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14600" y="20299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Map, globe, presence, privacy projections, Pool, requests, acceptance, chat, venue personas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514600" y="2514600"/>
            <a:ext cx="8412480" cy="0"/>
          </a:xfrm>
          <a:prstGeom prst="line">
            <a:avLst/>
          </a:prstGeom>
          <a:noFill/>
          <a:ln w="8890">
            <a:solidFill>
              <a:srgbClr val="535762">
                <a:alpha val="7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868680" y="30175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D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14600" y="29900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friendships, locations, verification and all data are seeded on-device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514600" y="3474720"/>
            <a:ext cx="8412480" cy="0"/>
          </a:xfrm>
          <a:prstGeom prst="line">
            <a:avLst/>
          </a:prstGeom>
          <a:noFill/>
          <a:ln w="8890">
            <a:solidFill>
              <a:srgbClr val="535762">
                <a:alpha val="7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868680" y="39776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0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14600" y="39502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backend, persistence, server redaction, moderation, rate limits, auditability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514600" y="4434840"/>
            <a:ext cx="8412480" cy="0"/>
          </a:xfrm>
          <a:prstGeom prst="line">
            <a:avLst/>
          </a:prstGeom>
          <a:noFill/>
          <a:ln w="8890">
            <a:solidFill>
              <a:srgbClr val="535762">
                <a:alpha val="7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seams are worth preserving.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rules, safe projections, and a swappable repository give the prototype a professional centre.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783080"/>
            <a:ext cx="7680960" cy="457200"/>
          </a:xfrm>
          <a:prstGeom prst="roundRect">
            <a:avLst>
              <a:gd name="adj" fmla="val 24000"/>
            </a:avLst>
          </a:prstGeom>
          <a:solidFill>
            <a:srgbClr val="17191E"/>
          </a:solidFill>
          <a:ln w="8890">
            <a:solidFill>
              <a:srgbClr val="C9CBD4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92938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697480" y="191109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Router screens render permitted views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34440" y="2496312"/>
            <a:ext cx="7040880" cy="457200"/>
          </a:xfrm>
          <a:prstGeom prst="roundRect">
            <a:avLst>
              <a:gd name="adj" fmla="val 24000"/>
            </a:avLst>
          </a:prstGeom>
          <a:solidFill>
            <a:srgbClr val="17191E"/>
          </a:solidFill>
          <a:ln w="8890">
            <a:solidFill>
              <a:srgbClr val="5E82FF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642616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5E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017520" y="262432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primitives, map renderers, visual tokens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54480" y="3209544"/>
            <a:ext cx="6400800" cy="457200"/>
          </a:xfrm>
          <a:prstGeom prst="roundRect">
            <a:avLst>
              <a:gd name="adj" fmla="val 24000"/>
            </a:avLst>
          </a:prstGeom>
          <a:solidFill>
            <a:srgbClr val="17191E"/>
          </a:solidFill>
          <a:ln w="8890">
            <a:solidFill>
              <a:srgbClr val="9D75FF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83080" y="3355848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9D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337560" y="33375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Repository, seed state, viewer projections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74520" y="3922776"/>
            <a:ext cx="5760720" cy="457200"/>
          </a:xfrm>
          <a:prstGeom prst="roundRect">
            <a:avLst>
              <a:gd name="adj" fmla="val 24000"/>
            </a:avLst>
          </a:prstGeom>
          <a:solidFill>
            <a:srgbClr val="17191E"/>
          </a:solidFill>
          <a:ln w="8890">
            <a:solidFill>
              <a:srgbClr val="35E67B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4069080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0" y="40507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Presence, Pool, geo and privacy rules without IO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94560" y="4636008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17191E"/>
          </a:solidFill>
          <a:ln w="8890">
            <a:solidFill>
              <a:srgbClr val="F05B66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478231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F0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NEXT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977640" y="476402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authority, persistence, audit and real-time events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5577840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Guardrail: screens never reach past the viewer projection.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PRODUCT SURFACE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feature has a status, not just a name.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feature matrix separates current prototype behaviour from launch gates and future exploration.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554480" cy="402336"/>
          </a:xfrm>
          <a:prstGeom prst="roundRect">
            <a:avLst>
              <a:gd name="adj" fmla="val 27273"/>
            </a:avLst>
          </a:prstGeom>
          <a:solidFill>
            <a:srgbClr val="20232A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002536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0" y="1993392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map, pins, globe, discovery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0" y="2002536"/>
            <a:ext cx="2103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BUILT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22960" y="2532888"/>
            <a:ext cx="1554480" cy="402336"/>
          </a:xfrm>
          <a:prstGeom prst="roundRect">
            <a:avLst>
              <a:gd name="adj" fmla="val 27273"/>
            </a:avLst>
          </a:prstGeom>
          <a:solidFill>
            <a:srgbClr val="20232A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660904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0" y="2651760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DTF / Casual / Off, friend disclosure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78240" y="2660904"/>
            <a:ext cx="2103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BUILT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22960" y="3191256"/>
            <a:ext cx="1554480" cy="402336"/>
          </a:xfrm>
          <a:prstGeom prst="roundRect">
            <a:avLst>
              <a:gd name="adj" fmla="val 27273"/>
            </a:avLst>
          </a:prstGeom>
          <a:solidFill>
            <a:srgbClr val="20232A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319272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43200" y="3310128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→ request → accept → chat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78240" y="3319272"/>
            <a:ext cx="2103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BUILT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22960" y="3849624"/>
            <a:ext cx="1554480" cy="402336"/>
          </a:xfrm>
          <a:prstGeom prst="roundRect">
            <a:avLst>
              <a:gd name="adj" fmla="val 27273"/>
            </a:avLst>
          </a:prstGeom>
          <a:solidFill>
            <a:srgbClr val="20232A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3977640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43200" y="396849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 venue persona + verified event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78240" y="3977640"/>
            <a:ext cx="2103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22960" y="4507992"/>
            <a:ext cx="1554480" cy="402336"/>
          </a:xfrm>
          <a:prstGeom prst="roundRect">
            <a:avLst>
              <a:gd name="adj" fmla="val 27273"/>
            </a:avLst>
          </a:prstGeom>
          <a:solidFill>
            <a:srgbClr val="20232A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4636008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F0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0" y="4626864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verification, report, block, moderation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78240" y="4636008"/>
            <a:ext cx="2103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F0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BLOCKER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PRIVACY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 is calculated for the viewer.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visual system cannot be allowed to invent a more revealing view.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05256" y="1901952"/>
            <a:ext cx="164592" cy="164592"/>
          </a:xfrm>
          <a:prstGeom prst="ellipse">
            <a:avLst/>
          </a:prstGeom>
          <a:solidFill>
            <a:srgbClr val="35E67B"/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90195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977640" y="188366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current fix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05256" y="2505456"/>
            <a:ext cx="164592" cy="164592"/>
          </a:xfrm>
          <a:prstGeom prst="ellipse">
            <a:avLst/>
          </a:prstGeom>
          <a:solidFill>
            <a:srgbClr val="5E82FF"/>
          </a:solidFill>
          <a:ln w="12700">
            <a:solidFill>
              <a:srgbClr val="5E82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250545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5E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QUALIFYING FRIEND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77640" y="2487168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fix under DTF rules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05256" y="3108960"/>
            <a:ext cx="164592" cy="164592"/>
          </a:xfrm>
          <a:prstGeom prst="ellipse">
            <a:avLst/>
          </a:prstGeom>
          <a:solidFill>
            <a:srgbClr val="9D75FF"/>
          </a:solidFill>
          <a:ln w="12700">
            <a:solidFill>
              <a:srgbClr val="9D75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31089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9D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77640" y="3090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venue glow only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05256" y="3712464"/>
            <a:ext cx="164592" cy="164592"/>
          </a:xfrm>
          <a:prstGeom prst="ellipse">
            <a:avLst/>
          </a:prstGeom>
          <a:solidFill>
            <a:srgbClr val="F05B66"/>
          </a:solidFill>
          <a:ln w="12700">
            <a:solidFill>
              <a:srgbClr val="F05B6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371246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F0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UNRELATED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77640" y="3694176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person disclosure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05256" y="4315968"/>
            <a:ext cx="164592" cy="164592"/>
          </a:xfrm>
          <a:prstGeom prst="ellipse">
            <a:avLst/>
          </a:prstGeom>
          <a:solidFill>
            <a:srgbClr val="F05B66"/>
          </a:solidFill>
          <a:ln w="12700">
            <a:solidFill>
              <a:srgbClr val="F05B6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431596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F0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PLAN OUTSIDER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77640" y="429768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area / neutral absence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641080" y="1828800"/>
            <a:ext cx="2423160" cy="2697480"/>
          </a:xfrm>
          <a:prstGeom prst="roundRect">
            <a:avLst>
              <a:gd name="adj" fmla="val 4528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42832" y="214884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RULE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942832" y="2560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locations never arrive in a generic payload to be filtered later.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POOL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state machine with real safety consequences.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is not a permanent group product. It is bounded access and coordination.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6656" y="2651760"/>
            <a:ext cx="365760" cy="365760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31012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88136" y="2834640"/>
            <a:ext cx="1243584" cy="0"/>
          </a:xfrm>
          <a:prstGeom prst="line">
            <a:avLst/>
          </a:prstGeom>
          <a:noFill/>
          <a:ln w="12700">
            <a:solidFill>
              <a:srgbClr val="535762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551176" y="2651760"/>
            <a:ext cx="365760" cy="365760"/>
          </a:xfrm>
          <a:prstGeom prst="ellipse">
            <a:avLst/>
          </a:prstGeom>
          <a:solidFill>
            <a:srgbClr val="5E82FF"/>
          </a:solidFill>
          <a:ln w="12700">
            <a:solidFill>
              <a:srgbClr val="5E82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32888" y="331012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5E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62656" y="2834640"/>
            <a:ext cx="1243584" cy="0"/>
          </a:xfrm>
          <a:prstGeom prst="line">
            <a:avLst/>
          </a:prstGeom>
          <a:noFill/>
          <a:ln w="12700">
            <a:solidFill>
              <a:srgbClr val="535762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4425696" y="2651760"/>
            <a:ext cx="365760" cy="365760"/>
          </a:xfrm>
          <a:prstGeom prst="ellipse">
            <a:avLst/>
          </a:prstGeom>
          <a:solidFill>
            <a:srgbClr val="9D75FF"/>
          </a:solidFill>
          <a:ln w="12700">
            <a:solidFill>
              <a:srgbClr val="9D75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7408" y="331012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9D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37176" y="2834640"/>
            <a:ext cx="1243584" cy="0"/>
          </a:xfrm>
          <a:prstGeom prst="line">
            <a:avLst/>
          </a:prstGeom>
          <a:noFill/>
          <a:ln w="12700">
            <a:solidFill>
              <a:srgbClr val="535762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6300216" y="2651760"/>
            <a:ext cx="365760" cy="365760"/>
          </a:xfrm>
          <a:prstGeom prst="ellipse">
            <a:avLst/>
          </a:prstGeom>
          <a:solidFill>
            <a:srgbClr val="FF6BAE"/>
          </a:solidFill>
          <a:ln w="12700">
            <a:solidFill>
              <a:srgbClr val="FF6BA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331012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FF6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11696" y="2834640"/>
            <a:ext cx="1243584" cy="0"/>
          </a:xfrm>
          <a:prstGeom prst="line">
            <a:avLst/>
          </a:prstGeom>
          <a:noFill/>
          <a:ln w="12700">
            <a:solidFill>
              <a:srgbClr val="535762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8174736" y="2651760"/>
            <a:ext cx="365760" cy="365760"/>
          </a:xfrm>
          <a:prstGeom prst="ellipse">
            <a:avLst/>
          </a:prstGeom>
          <a:solidFill>
            <a:srgbClr val="35E67B"/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6448" y="331012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586216" y="2834640"/>
            <a:ext cx="1243584" cy="0"/>
          </a:xfrm>
          <a:prstGeom prst="line">
            <a:avLst/>
          </a:prstGeom>
          <a:noFill/>
          <a:ln w="12700">
            <a:solidFill>
              <a:srgbClr val="535762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049256" y="2651760"/>
            <a:ext cx="365760" cy="365760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30968" y="331012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47091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acceptance • capacity re-check • private reveal only after authorisation • idempotent commands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MESSAGING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persists through the conversation.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and venue identities must never collapse into one another.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2194560" cy="4160520"/>
          </a:xfrm>
          <a:prstGeom prst="roundRect">
            <a:avLst>
              <a:gd name="adj" fmla="val 5000"/>
            </a:avLst>
          </a:prstGeom>
          <a:solidFill>
            <a:srgbClr val="050506"/>
          </a:solidFill>
          <a:ln w="8890">
            <a:solidFill>
              <a:srgbClr val="C9CBD4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819656"/>
            <a:ext cx="2066544" cy="3959352"/>
          </a:xfrm>
          <a:prstGeom prst="roundRect">
            <a:avLst>
              <a:gd name="adj" fmla="val 5310"/>
            </a:avLst>
          </a:prstGeom>
          <a:solidFill>
            <a:srgbClr val="0F1013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11173" y="1737360"/>
            <a:ext cx="526694" cy="36576"/>
          </a:xfrm>
          <a:prstGeom prst="roundRect">
            <a:avLst>
              <a:gd name="adj" fmla="val 300000"/>
            </a:avLst>
          </a:prstGeom>
          <a:solidFill>
            <a:srgbClr val="20232A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837944"/>
            <a:ext cx="2048256" cy="1123340"/>
          </a:xfrm>
          <a:prstGeom prst="roundRect">
            <a:avLst>
              <a:gd name="adj" fmla="val 9768"/>
            </a:avLst>
          </a:prstGeom>
          <a:solidFill>
            <a:srgbClr val="20232A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23390" y="1938528"/>
            <a:ext cx="891540" cy="466344"/>
          </a:xfrm>
          <a:prstGeom prst="ellipse">
            <a:avLst/>
          </a:prstGeom>
          <a:solidFill>
            <a:srgbClr val="080809">
              <a:alpha val="0"/>
            </a:srgbClr>
          </a:solidFill>
          <a:ln w="15240">
            <a:solidFill>
              <a:srgbClr val="F2F3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38858" y="2041398"/>
            <a:ext cx="260604" cy="260604"/>
          </a:xfrm>
          <a:prstGeom prst="ellipse">
            <a:avLst/>
          </a:prstGeom>
          <a:solidFill>
            <a:srgbClr val="F2F3F6"/>
          </a:solidFill>
          <a:ln w="12700">
            <a:solidFill>
              <a:srgbClr val="F2F3F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17725" y="2120265"/>
            <a:ext cx="102870" cy="102870"/>
          </a:xfrm>
          <a:prstGeom prst="ellipse">
            <a:avLst/>
          </a:prstGeom>
          <a:solidFill>
            <a:srgbClr val="080809"/>
          </a:solidFill>
          <a:ln w="12700">
            <a:solidFill>
              <a:srgbClr val="08080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730295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97992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DTF / TONIGHT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78408" y="4520794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nightlife identity, not a popularity score.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5925312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125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IDENTITY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886200" y="1691640"/>
            <a:ext cx="2194560" cy="4160520"/>
          </a:xfrm>
          <a:prstGeom prst="roundRect">
            <a:avLst>
              <a:gd name="adj" fmla="val 5000"/>
            </a:avLst>
          </a:prstGeom>
          <a:solidFill>
            <a:srgbClr val="050506"/>
          </a:solidFill>
          <a:ln w="8890">
            <a:solidFill>
              <a:srgbClr val="C9CBD4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50208" y="1819656"/>
            <a:ext cx="2066544" cy="3959352"/>
          </a:xfrm>
          <a:prstGeom prst="roundRect">
            <a:avLst>
              <a:gd name="adj" fmla="val 5310"/>
            </a:avLst>
          </a:prstGeom>
          <a:solidFill>
            <a:srgbClr val="0F1013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20133" y="1737360"/>
            <a:ext cx="526694" cy="36576"/>
          </a:xfrm>
          <a:prstGeom prst="roundRect">
            <a:avLst>
              <a:gd name="adj" fmla="val 300000"/>
            </a:avLst>
          </a:prstGeom>
          <a:solidFill>
            <a:srgbClr val="20232A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59352" y="1837944"/>
            <a:ext cx="2048256" cy="1040130"/>
          </a:xfrm>
          <a:prstGeom prst="roundRect">
            <a:avLst>
              <a:gd name="adj" fmla="val 10549"/>
            </a:avLst>
          </a:prstGeom>
          <a:solidFill>
            <a:srgbClr val="9D75FF">
              <a:alpha val="68000"/>
            </a:srgbClr>
          </a:solidFill>
          <a:ln w="8890">
            <a:solidFill>
              <a:srgbClr val="9D75FF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96512" y="1947672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/ PRIVATE PLAN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096512" y="215798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place worth getting to.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69080" y="3771900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05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SHOWN UNTIL ACCEPTED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069080" y="4063136"/>
            <a:ext cx="1828800" cy="384048"/>
          </a:xfrm>
          <a:prstGeom prst="roundRect">
            <a:avLst>
              <a:gd name="adj" fmla="val 28571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69080" y="4146347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ACCESS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77640" y="5925312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125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PERSONA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949440" y="2880360"/>
            <a:ext cx="1783080" cy="0"/>
          </a:xfrm>
          <a:prstGeom prst="line">
            <a:avLst/>
          </a:prstGeom>
          <a:noFill/>
          <a:ln w="15240">
            <a:solidFill>
              <a:srgbClr val="535762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8586216" y="2734056"/>
            <a:ext cx="292608" cy="292608"/>
          </a:xfrm>
          <a:prstGeom prst="ellipse">
            <a:avLst/>
          </a:prstGeom>
          <a:solidFill>
            <a:srgbClr val="35E67B"/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89720" y="2487168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189720" y="2834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authorised participants can read it.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189720" y="3767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or malformed access returns neutral absence.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BUSINESS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verified business is a separate accountable identity.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is a supply-side extension of Pool, not a secret operator profile.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3749040" cy="2514600"/>
          </a:xfrm>
          <a:prstGeom prst="roundRect">
            <a:avLst>
              <a:gd name="adj" fmla="val 4364"/>
            </a:avLst>
          </a:prstGeom>
          <a:solidFill>
            <a:srgbClr val="20232A"/>
          </a:solidFill>
          <a:ln w="8890">
            <a:solidFill>
              <a:srgbClr val="9D75FF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331720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D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VENUE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2743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a known-venue opportunity.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43000" y="37307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operator remains private behind the venue persona.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66360" y="1965960"/>
            <a:ext cx="5989320" cy="2514600"/>
          </a:xfrm>
          <a:prstGeom prst="roundRect">
            <a:avLst>
              <a:gd name="adj" fmla="val 4364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32120" y="2441448"/>
            <a:ext cx="91440" cy="91440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42432" y="24231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AUTHORITY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229600" y="2441448"/>
            <a:ext cx="91440" cy="91440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24231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ROLES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532120" y="2962656"/>
            <a:ext cx="91440" cy="91440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294436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OWNERSHIP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29600" y="2962656"/>
            <a:ext cx="91440" cy="91440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9912" y="294436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PUBLISHING RULES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32120" y="3483864"/>
            <a:ext cx="91440" cy="91440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42432" y="346557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APPEALS + REVOCATION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229600" y="3483864"/>
            <a:ext cx="91440" cy="91440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39912" y="346557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MODERATION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SAFETY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users are blocked until the operating system exists.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gates are product requirements, not post-launch polish.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3063240" cy="502920"/>
          </a:xfrm>
          <a:prstGeom prst="roundRect">
            <a:avLst>
              <a:gd name="adj" fmla="val 21818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984" y="2249424"/>
            <a:ext cx="128016" cy="128016"/>
          </a:xfrm>
          <a:prstGeom prst="ellipse">
            <a:avLst/>
          </a:prstGeom>
          <a:solidFill>
            <a:srgbClr val="35E67B"/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224028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5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18+ IDENTITY VERIFICATION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26280" y="2057400"/>
            <a:ext cx="3063240" cy="502920"/>
          </a:xfrm>
          <a:prstGeom prst="roundRect">
            <a:avLst>
              <a:gd name="adj" fmla="val 21818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18304" y="2249424"/>
            <a:ext cx="128016" cy="128016"/>
          </a:xfrm>
          <a:prstGeom prst="ellipse">
            <a:avLst/>
          </a:prstGeom>
          <a:solidFill>
            <a:srgbClr val="F05B66"/>
          </a:solidFill>
          <a:ln w="12700">
            <a:solidFill>
              <a:srgbClr val="F05B6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01768" y="224028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5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REDACTION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229600" y="2057400"/>
            <a:ext cx="3063240" cy="502920"/>
          </a:xfrm>
          <a:prstGeom prst="roundRect">
            <a:avLst>
              <a:gd name="adj" fmla="val 21818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21624" y="2249424"/>
            <a:ext cx="128016" cy="128016"/>
          </a:xfrm>
          <a:prstGeom prst="ellipse">
            <a:avLst/>
          </a:prstGeom>
          <a:solidFill>
            <a:srgbClr val="F05B66"/>
          </a:solidFill>
          <a:ln w="12700">
            <a:solidFill>
              <a:srgbClr val="F05B6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05088" y="224028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5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+ BLOCK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22960" y="2926080"/>
            <a:ext cx="3063240" cy="502920"/>
          </a:xfrm>
          <a:prstGeom prst="roundRect">
            <a:avLst>
              <a:gd name="adj" fmla="val 21818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4984" y="3118104"/>
            <a:ext cx="128016" cy="128016"/>
          </a:xfrm>
          <a:prstGeom prst="ellipse">
            <a:avLst/>
          </a:prstGeom>
          <a:solidFill>
            <a:srgbClr val="F05B66"/>
          </a:solidFill>
          <a:ln w="12700">
            <a:solidFill>
              <a:srgbClr val="F05B6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310896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5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MODERATION QUEUE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26280" y="2926080"/>
            <a:ext cx="3063240" cy="502920"/>
          </a:xfrm>
          <a:prstGeom prst="roundRect">
            <a:avLst>
              <a:gd name="adj" fmla="val 21818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18304" y="3118104"/>
            <a:ext cx="128016" cy="128016"/>
          </a:xfrm>
          <a:prstGeom prst="ellipse">
            <a:avLst/>
          </a:prstGeom>
          <a:solidFill>
            <a:srgbClr val="F05B66"/>
          </a:solidFill>
          <a:ln w="12700">
            <a:solidFill>
              <a:srgbClr val="F05B6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01768" y="310896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5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229600" y="2926080"/>
            <a:ext cx="3063240" cy="502920"/>
          </a:xfrm>
          <a:prstGeom prst="roundRect">
            <a:avLst>
              <a:gd name="adj" fmla="val 21818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21624" y="3118104"/>
            <a:ext cx="128016" cy="128016"/>
          </a:xfrm>
          <a:prstGeom prst="ellipse">
            <a:avLst/>
          </a:prstGeom>
          <a:solidFill>
            <a:srgbClr val="F05B66"/>
          </a:solidFill>
          <a:ln w="12700">
            <a:solidFill>
              <a:srgbClr val="F05B6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05088" y="310896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5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22960" y="3794760"/>
            <a:ext cx="3063240" cy="502920"/>
          </a:xfrm>
          <a:prstGeom prst="roundRect">
            <a:avLst>
              <a:gd name="adj" fmla="val 21818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4984" y="3986784"/>
            <a:ext cx="128016" cy="128016"/>
          </a:xfrm>
          <a:prstGeom prst="ellipse">
            <a:avLst/>
          </a:prstGeom>
          <a:solidFill>
            <a:srgbClr val="F05B66"/>
          </a:solidFill>
          <a:ln w="12700">
            <a:solidFill>
              <a:srgbClr val="F05B6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98448" y="397764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5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APPEALS + INCIDENT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68680" y="5074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 people. No real locations. No public pilot until Gate 1 is independently reviewed.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VISUAL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visual target is a product world, not a skin.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living map inside a premium black-and-silver instrument.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0F1013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4432097"/>
            <a:ext cx="925373" cy="-1668780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858061" y="2763317"/>
            <a:ext cx="201168" cy="-767639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059229" y="1995678"/>
            <a:ext cx="885139" cy="500634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944368" y="2496312"/>
            <a:ext cx="1649578" cy="-400507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11987" y="2563063"/>
            <a:ext cx="925373" cy="600761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737360" y="3163824"/>
            <a:ext cx="925373" cy="-267005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2662733" y="2896819"/>
            <a:ext cx="965606" cy="667512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3628339" y="3564331"/>
            <a:ext cx="1046074" cy="-400507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536192" y="1962302"/>
            <a:ext cx="281635" cy="700888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817827" y="2663190"/>
            <a:ext cx="925373" cy="667512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2743200" y="3330702"/>
            <a:ext cx="482803" cy="1101395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226003" y="4432097"/>
            <a:ext cx="885139" cy="600761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214323" y="5099609"/>
            <a:ext cx="844906" cy="-934517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2059229" y="4165092"/>
            <a:ext cx="603504" cy="-600761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2662733" y="3564331"/>
            <a:ext cx="1126541" cy="-801014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3789274" y="2763317"/>
            <a:ext cx="764438" cy="-367132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214323" y="4098341"/>
            <a:ext cx="160934" cy="66751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2702966" y="4732477"/>
            <a:ext cx="160934" cy="66751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4191610" y="2763317"/>
            <a:ext cx="160934" cy="66751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2300630" y="3397453"/>
            <a:ext cx="160934" cy="66751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3789274" y="4031590"/>
            <a:ext cx="160934" cy="66751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898294" y="4665726"/>
            <a:ext cx="160934" cy="66751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3386938" y="2696566"/>
            <a:ext cx="160934" cy="66751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495958" y="3330702"/>
            <a:ext cx="160934" cy="66751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2984602" y="3964838"/>
            <a:ext cx="160934" cy="66751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093622" y="4598975"/>
            <a:ext cx="160934" cy="66751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2582266" y="2629814"/>
            <a:ext cx="160934" cy="66751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4070909" y="3263951"/>
            <a:ext cx="160934" cy="66751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2179930" y="3898087"/>
            <a:ext cx="160934" cy="66751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3668573" y="4532224"/>
            <a:ext cx="160934" cy="66751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777594" y="2563063"/>
            <a:ext cx="160934" cy="66751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3266237" y="3197200"/>
            <a:ext cx="160934" cy="66751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1375258" y="3831336"/>
            <a:ext cx="160934" cy="66751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2863901" y="4465472"/>
            <a:ext cx="160934" cy="66751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1375258" y="2480767"/>
            <a:ext cx="965606" cy="965606"/>
          </a:xfrm>
          <a:prstGeom prst="ellipse">
            <a:avLst/>
          </a:prstGeom>
          <a:solidFill>
            <a:srgbClr val="35E67B">
              <a:alpha val="25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40799" y="2746309"/>
            <a:ext cx="434523" cy="434523"/>
          </a:xfrm>
          <a:prstGeom prst="ellipse">
            <a:avLst/>
          </a:prstGeom>
          <a:solidFill>
            <a:srgbClr val="35E67B"/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62733" y="2995117"/>
            <a:ext cx="804672" cy="804672"/>
          </a:xfrm>
          <a:prstGeom prst="ellipse">
            <a:avLst/>
          </a:prstGeom>
          <a:solidFill>
            <a:srgbClr val="5E82FF">
              <a:alpha val="25000"/>
            </a:srgbClr>
          </a:solidFill>
          <a:ln w="12700">
            <a:solidFill>
              <a:srgbClr val="5E82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84018" y="3216402"/>
            <a:ext cx="362102" cy="362102"/>
          </a:xfrm>
          <a:prstGeom prst="ellipse">
            <a:avLst/>
          </a:prstGeom>
          <a:solidFill>
            <a:srgbClr val="5E82FF"/>
          </a:solidFill>
          <a:ln w="12700">
            <a:solidFill>
              <a:srgbClr val="5E82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26003" y="2260854"/>
            <a:ext cx="804672" cy="804672"/>
          </a:xfrm>
          <a:prstGeom prst="ellipse">
            <a:avLst/>
          </a:prstGeom>
          <a:solidFill>
            <a:srgbClr val="9D75FF">
              <a:alpha val="25000"/>
            </a:srgbClr>
          </a:solidFill>
          <a:ln w="12700">
            <a:solidFill>
              <a:srgbClr val="9D75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47288" y="2482139"/>
            <a:ext cx="362102" cy="362102"/>
          </a:xfrm>
          <a:prstGeom prst="ellipse">
            <a:avLst/>
          </a:prstGeom>
          <a:solidFill>
            <a:srgbClr val="9D75FF"/>
          </a:solidFill>
          <a:ln w="12700">
            <a:solidFill>
              <a:srgbClr val="9D75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79346" y="3889858"/>
            <a:ext cx="683971" cy="683971"/>
          </a:xfrm>
          <a:prstGeom prst="ellipse">
            <a:avLst/>
          </a:prstGeom>
          <a:solidFill>
            <a:srgbClr val="FF6BAE">
              <a:alpha val="25000"/>
            </a:srgbClr>
          </a:solidFill>
          <a:ln w="12700">
            <a:solidFill>
              <a:srgbClr val="FF6BAE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67438" y="4077950"/>
            <a:ext cx="307787" cy="307787"/>
          </a:xfrm>
          <a:prstGeom prst="ellipse">
            <a:avLst/>
          </a:prstGeom>
          <a:solidFill>
            <a:srgbClr val="FF6BAE"/>
          </a:solidFill>
          <a:ln w="12700">
            <a:solidFill>
              <a:srgbClr val="FF6BAE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07638" y="3802990"/>
            <a:ext cx="724205" cy="724205"/>
          </a:xfrm>
          <a:prstGeom prst="ellipse">
            <a:avLst/>
          </a:prstGeom>
          <a:solidFill>
            <a:srgbClr val="46D8EE">
              <a:alpha val="25000"/>
            </a:srgbClr>
          </a:solidFill>
          <a:ln w="12700">
            <a:solidFill>
              <a:srgbClr val="46D8EE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06795" y="4002146"/>
            <a:ext cx="325892" cy="325892"/>
          </a:xfrm>
          <a:prstGeom prst="ellipse">
            <a:avLst/>
          </a:prstGeom>
          <a:solidFill>
            <a:srgbClr val="46D8EE"/>
          </a:solidFill>
          <a:ln w="12700">
            <a:solidFill>
              <a:srgbClr val="46D8EE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33856" y="2232508"/>
            <a:ext cx="1528877" cy="1528877"/>
          </a:xfrm>
          <a:prstGeom prst="ellipse">
            <a:avLst/>
          </a:prstGeom>
          <a:solidFill>
            <a:srgbClr val="35E67B">
              <a:alpha val="7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415491" y="2514143"/>
            <a:ext cx="965606" cy="965606"/>
          </a:xfrm>
          <a:prstGeom prst="ellipse">
            <a:avLst/>
          </a:prstGeom>
          <a:solidFill>
            <a:srgbClr val="35E67B">
              <a:alpha val="11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93622" y="2062429"/>
            <a:ext cx="1086307" cy="367132"/>
          </a:xfrm>
          <a:prstGeom prst="roundRect">
            <a:avLst>
              <a:gd name="adj" fmla="val 29888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94206" y="2112493"/>
            <a:ext cx="804672" cy="2336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CITY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486400" y="1600200"/>
            <a:ext cx="1920240" cy="3977640"/>
          </a:xfrm>
          <a:prstGeom prst="roundRect">
            <a:avLst>
              <a:gd name="adj" fmla="val 5714"/>
            </a:avLst>
          </a:prstGeom>
          <a:solidFill>
            <a:srgbClr val="050506"/>
          </a:solidFill>
          <a:ln w="8890">
            <a:solidFill>
              <a:srgbClr val="C9CBD4">
                <a:alpha val="6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50408" y="1728216"/>
            <a:ext cx="1792224" cy="3776472"/>
          </a:xfrm>
          <a:prstGeom prst="roundRect">
            <a:avLst>
              <a:gd name="adj" fmla="val 6122"/>
            </a:avLst>
          </a:prstGeom>
          <a:solidFill>
            <a:srgbClr val="0F1013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16091" y="1645920"/>
            <a:ext cx="460858" cy="36576"/>
          </a:xfrm>
          <a:prstGeom prst="roundRect">
            <a:avLst>
              <a:gd name="adj" fmla="val 300000"/>
            </a:avLst>
          </a:prstGeom>
          <a:solidFill>
            <a:srgbClr val="20232A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59552" y="1746504"/>
            <a:ext cx="1773936" cy="2267255"/>
          </a:xfrm>
          <a:prstGeom prst="roundRect">
            <a:avLst>
              <a:gd name="adj" fmla="val 6186"/>
            </a:avLst>
          </a:prstGeom>
          <a:solidFill>
            <a:srgbClr val="0F1013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48249" y="3514963"/>
            <a:ext cx="408005" cy="-1133627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056254" y="2381335"/>
            <a:ext cx="88697" cy="-521469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6144951" y="1859867"/>
            <a:ext cx="390266" cy="340088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6535217" y="2199955"/>
            <a:ext cx="727314" cy="-272071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5595031" y="2245300"/>
            <a:ext cx="408005" cy="408106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6003036" y="2653406"/>
            <a:ext cx="408005" cy="-181380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6411041" y="2472026"/>
            <a:ext cx="425745" cy="453451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6836786" y="2925476"/>
            <a:ext cx="461223" cy="-272071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5914339" y="1837194"/>
            <a:ext cx="124176" cy="476124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6038515" y="2313318"/>
            <a:ext cx="408005" cy="453451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6446520" y="2766769"/>
            <a:ext cx="212872" cy="748194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6659392" y="3514963"/>
            <a:ext cx="390266" cy="408106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5772424" y="3968414"/>
            <a:ext cx="372527" cy="-634831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6144951" y="3333582"/>
            <a:ext cx="266090" cy="-408106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6411041" y="2925476"/>
            <a:ext cx="496702" cy="-544141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6907743" y="2381335"/>
            <a:ext cx="337048" cy="-249398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6091733" y="2744096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6748089" y="3174875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5914339" y="3605653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6570696" y="2267973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78" name="Shape 76"/>
          <p:cNvSpPr/>
          <p:nvPr/>
        </p:nvSpPr>
        <p:spPr>
          <a:xfrm>
            <a:off x="5736946" y="2698751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79" name="Shape 77"/>
          <p:cNvSpPr/>
          <p:nvPr/>
        </p:nvSpPr>
        <p:spPr>
          <a:xfrm>
            <a:off x="6393302" y="3129529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0" name="Shape 78"/>
          <p:cNvSpPr/>
          <p:nvPr/>
        </p:nvSpPr>
        <p:spPr>
          <a:xfrm>
            <a:off x="7049658" y="3560308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1" name="Shape 79"/>
          <p:cNvSpPr/>
          <p:nvPr/>
        </p:nvSpPr>
        <p:spPr>
          <a:xfrm>
            <a:off x="6215908" y="2222628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2" name="Shape 80"/>
          <p:cNvSpPr/>
          <p:nvPr/>
        </p:nvSpPr>
        <p:spPr>
          <a:xfrm>
            <a:off x="6872265" y="2653406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3" name="Shape 81"/>
          <p:cNvSpPr/>
          <p:nvPr/>
        </p:nvSpPr>
        <p:spPr>
          <a:xfrm>
            <a:off x="6038515" y="3084184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4" name="Shape 82"/>
          <p:cNvSpPr/>
          <p:nvPr/>
        </p:nvSpPr>
        <p:spPr>
          <a:xfrm>
            <a:off x="6694871" y="3514963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5" name="Shape 83"/>
          <p:cNvSpPr/>
          <p:nvPr/>
        </p:nvSpPr>
        <p:spPr>
          <a:xfrm>
            <a:off x="5861121" y="2177282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6" name="Shape 84"/>
          <p:cNvSpPr/>
          <p:nvPr/>
        </p:nvSpPr>
        <p:spPr>
          <a:xfrm>
            <a:off x="6517477" y="2608061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7173834" y="3038839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6340084" y="3469618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9" name="Shape 87"/>
          <p:cNvSpPr/>
          <p:nvPr/>
        </p:nvSpPr>
        <p:spPr>
          <a:xfrm>
            <a:off x="6996440" y="2131937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90" name="Shape 88"/>
          <p:cNvSpPr/>
          <p:nvPr/>
        </p:nvSpPr>
        <p:spPr>
          <a:xfrm>
            <a:off x="6162690" y="2562716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91" name="Shape 89"/>
          <p:cNvSpPr/>
          <p:nvPr/>
        </p:nvSpPr>
        <p:spPr>
          <a:xfrm>
            <a:off x="6819047" y="2993494"/>
            <a:ext cx="70957" cy="4534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92" name="Shape 90"/>
          <p:cNvSpPr/>
          <p:nvPr/>
        </p:nvSpPr>
        <p:spPr>
          <a:xfrm>
            <a:off x="5843382" y="2304498"/>
            <a:ext cx="425745" cy="425745"/>
          </a:xfrm>
          <a:prstGeom prst="ellipse">
            <a:avLst/>
          </a:prstGeom>
          <a:solidFill>
            <a:srgbClr val="35E67B">
              <a:alpha val="25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960462" y="2421578"/>
            <a:ext cx="191585" cy="191585"/>
          </a:xfrm>
          <a:prstGeom prst="ellipse">
            <a:avLst/>
          </a:prstGeom>
          <a:solidFill>
            <a:srgbClr val="35E67B"/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411041" y="2634720"/>
            <a:ext cx="354787" cy="354787"/>
          </a:xfrm>
          <a:prstGeom prst="ellipse">
            <a:avLst/>
          </a:prstGeom>
          <a:solidFill>
            <a:srgbClr val="5E82FF">
              <a:alpha val="25000"/>
            </a:srgbClr>
          </a:solidFill>
          <a:ln w="12700">
            <a:solidFill>
              <a:srgbClr val="5E82FF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508608" y="2732287"/>
            <a:ext cx="159654" cy="159654"/>
          </a:xfrm>
          <a:prstGeom prst="ellipse">
            <a:avLst/>
          </a:prstGeom>
          <a:solidFill>
            <a:srgbClr val="5E82FF"/>
          </a:solidFill>
          <a:ln w="12700">
            <a:solidFill>
              <a:srgbClr val="5E82FF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659392" y="2135924"/>
            <a:ext cx="354787" cy="354787"/>
          </a:xfrm>
          <a:prstGeom prst="ellipse">
            <a:avLst/>
          </a:prstGeom>
          <a:solidFill>
            <a:srgbClr val="9D75FF">
              <a:alpha val="25000"/>
            </a:srgbClr>
          </a:solidFill>
          <a:ln w="12700">
            <a:solidFill>
              <a:srgbClr val="9D75FF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756959" y="2233491"/>
            <a:ext cx="159654" cy="159654"/>
          </a:xfrm>
          <a:prstGeom prst="ellipse">
            <a:avLst/>
          </a:prstGeom>
          <a:solidFill>
            <a:srgbClr val="9D75FF"/>
          </a:solidFill>
          <a:ln w="12700">
            <a:solidFill>
              <a:srgbClr val="9D75FF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153821" y="3228143"/>
            <a:ext cx="301569" cy="301569"/>
          </a:xfrm>
          <a:prstGeom prst="ellipse">
            <a:avLst/>
          </a:prstGeom>
          <a:solidFill>
            <a:srgbClr val="FF6BAE">
              <a:alpha val="25000"/>
            </a:srgbClr>
          </a:solidFill>
          <a:ln w="12700">
            <a:solidFill>
              <a:srgbClr val="FF6BAE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236752" y="3311074"/>
            <a:ext cx="135706" cy="135706"/>
          </a:xfrm>
          <a:prstGeom prst="ellipse">
            <a:avLst/>
          </a:prstGeom>
          <a:solidFill>
            <a:srgbClr val="FF6BAE"/>
          </a:solidFill>
          <a:ln w="12700">
            <a:solidFill>
              <a:srgbClr val="FF6BAE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783568" y="3173928"/>
            <a:ext cx="319308" cy="319308"/>
          </a:xfrm>
          <a:prstGeom prst="ellipse">
            <a:avLst/>
          </a:prstGeom>
          <a:solidFill>
            <a:srgbClr val="46D8EE">
              <a:alpha val="25000"/>
            </a:srgbClr>
          </a:solidFill>
          <a:ln w="12700">
            <a:solidFill>
              <a:srgbClr val="46D8EE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871378" y="3261738"/>
            <a:ext cx="143689" cy="143689"/>
          </a:xfrm>
          <a:prstGeom prst="ellipse">
            <a:avLst/>
          </a:prstGeom>
          <a:solidFill>
            <a:srgbClr val="46D8EE"/>
          </a:solidFill>
          <a:ln w="12700">
            <a:solidFill>
              <a:srgbClr val="46D8EE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736946" y="2202995"/>
            <a:ext cx="674096" cy="674096"/>
          </a:xfrm>
          <a:prstGeom prst="ellipse">
            <a:avLst/>
          </a:prstGeom>
          <a:solidFill>
            <a:srgbClr val="35E67B">
              <a:alpha val="7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861121" y="2327171"/>
            <a:ext cx="425745" cy="425745"/>
          </a:xfrm>
          <a:prstGeom prst="ellipse">
            <a:avLst/>
          </a:prstGeom>
          <a:solidFill>
            <a:srgbClr val="35E67B">
              <a:alpha val="11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719206" y="1905212"/>
            <a:ext cx="478963" cy="249398"/>
          </a:xfrm>
          <a:prstGeom prst="roundRect">
            <a:avLst>
              <a:gd name="adj" fmla="val 43997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763555" y="1939221"/>
            <a:ext cx="354787" cy="1587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CITY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5669280" y="4344772"/>
            <a:ext cx="1554480" cy="676199"/>
          </a:xfrm>
          <a:prstGeom prst="roundRect">
            <a:avLst>
              <a:gd name="adj" fmla="val 16227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779008" y="4503877"/>
            <a:ext cx="1335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SHIFT / MISSION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5779008" y="4702759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something alive nearby.</a:t>
            </a:r>
            <a:endParaRPr lang="en-US" sz="1050" dirty="0"/>
          </a:p>
        </p:txBody>
      </p:sp>
      <p:sp>
        <p:nvSpPr>
          <p:cNvPr id="109" name="Text 107"/>
          <p:cNvSpPr/>
          <p:nvPr/>
        </p:nvSpPr>
        <p:spPr>
          <a:xfrm>
            <a:off x="5577840" y="5650992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125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/ FUTURE VISION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8412480" y="1600200"/>
            <a:ext cx="1920240" cy="3977640"/>
          </a:xfrm>
          <a:prstGeom prst="roundRect">
            <a:avLst>
              <a:gd name="adj" fmla="val 5714"/>
            </a:avLst>
          </a:prstGeom>
          <a:solidFill>
            <a:srgbClr val="050506"/>
          </a:solidFill>
          <a:ln w="8890">
            <a:solidFill>
              <a:srgbClr val="C9CBD4">
                <a:alpha val="65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476488" y="1728216"/>
            <a:ext cx="1792224" cy="3776472"/>
          </a:xfrm>
          <a:prstGeom prst="roundRect">
            <a:avLst>
              <a:gd name="adj" fmla="val 6122"/>
            </a:avLst>
          </a:prstGeom>
          <a:solidFill>
            <a:srgbClr val="0F1013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142171" y="1645920"/>
            <a:ext cx="460858" cy="36576"/>
          </a:xfrm>
          <a:prstGeom prst="roundRect">
            <a:avLst>
              <a:gd name="adj" fmla="val 300000"/>
            </a:avLst>
          </a:prstGeom>
          <a:solidFill>
            <a:srgbClr val="20232A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485632" y="1746504"/>
            <a:ext cx="1773936" cy="1073963"/>
          </a:xfrm>
          <a:prstGeom prst="roundRect">
            <a:avLst>
              <a:gd name="adj" fmla="val 10217"/>
            </a:avLst>
          </a:prstGeom>
          <a:solidFill>
            <a:srgbClr val="20232A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065362" y="1847088"/>
            <a:ext cx="891540" cy="466344"/>
          </a:xfrm>
          <a:prstGeom prst="ellipse">
            <a:avLst/>
          </a:prstGeom>
          <a:solidFill>
            <a:srgbClr val="080809">
              <a:alpha val="0"/>
            </a:srgbClr>
          </a:solidFill>
          <a:ln w="15240">
            <a:solidFill>
              <a:srgbClr val="F2F3F6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380830" y="1949958"/>
            <a:ext cx="260604" cy="260604"/>
          </a:xfrm>
          <a:prstGeom prst="ellipse">
            <a:avLst/>
          </a:prstGeom>
          <a:solidFill>
            <a:srgbClr val="F2F3F6"/>
          </a:solidFill>
          <a:ln w="12700">
            <a:solidFill>
              <a:srgbClr val="F2F3F6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459697" y="2028825"/>
            <a:ext cx="102870" cy="102870"/>
          </a:xfrm>
          <a:prstGeom prst="ellipse">
            <a:avLst/>
          </a:prstGeom>
          <a:solidFill>
            <a:srgbClr val="080809"/>
          </a:solidFill>
          <a:ln w="12700">
            <a:solidFill>
              <a:srgbClr val="080809">
                <a:alpha val="0"/>
              </a:srgbClr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595360" y="354924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</a:t>
            </a:r>
            <a:endParaRPr lang="en-US" sz="1400" dirty="0"/>
          </a:p>
        </p:txBody>
      </p:sp>
      <p:sp>
        <p:nvSpPr>
          <p:cNvPr id="118" name="Text 116"/>
          <p:cNvSpPr/>
          <p:nvPr/>
        </p:nvSpPr>
        <p:spPr>
          <a:xfrm>
            <a:off x="8595360" y="378790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DTF / TONIGHT</a:t>
            </a:r>
            <a:endParaRPr lang="en-US" sz="750" dirty="0"/>
          </a:p>
        </p:txBody>
      </p:sp>
      <p:sp>
        <p:nvSpPr>
          <p:cNvPr id="119" name="Text 117"/>
          <p:cNvSpPr/>
          <p:nvPr/>
        </p:nvSpPr>
        <p:spPr>
          <a:xfrm>
            <a:off x="8613648" y="4304995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nightlife identity, not a popularity score.</a:t>
            </a:r>
            <a:endParaRPr lang="en-US" sz="1000" dirty="0"/>
          </a:p>
        </p:txBody>
      </p:sp>
      <p:sp>
        <p:nvSpPr>
          <p:cNvPr id="120" name="Text 118"/>
          <p:cNvSpPr/>
          <p:nvPr/>
        </p:nvSpPr>
        <p:spPr>
          <a:xfrm>
            <a:off x="8503920" y="5650992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125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/ FUTURE VISION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777240" y="5623560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25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/ GLASS / CHROME / LIVE EMERALD</a:t>
            </a:r>
            <a:endParaRPr lang="en-US" sz="850" dirty="0"/>
          </a:p>
        </p:txBody>
      </p:sp>
      <p:sp>
        <p:nvSpPr>
          <p:cNvPr id="122" name="Text 120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MOTION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should make the city physical, not the user captive.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Spring-like interaction, quiet ambient energy, clear reduced-motion equivalents.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22860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2104" y="340156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205740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06624" y="22860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44368" y="2834640"/>
            <a:ext cx="630022" cy="329550"/>
          </a:xfrm>
          <a:prstGeom prst="ellipse">
            <a:avLst/>
          </a:prstGeom>
          <a:solidFill>
            <a:srgbClr val="080809">
              <a:alpha val="0"/>
            </a:srgbClr>
          </a:solidFill>
          <a:ln w="10770">
            <a:solidFill>
              <a:srgbClr val="F2F3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67299" y="2907335"/>
            <a:ext cx="184160" cy="184160"/>
          </a:xfrm>
          <a:prstGeom prst="ellipse">
            <a:avLst/>
          </a:prstGeom>
          <a:solidFill>
            <a:srgbClr val="F2F3F6"/>
          </a:solidFill>
          <a:ln w="12700">
            <a:solidFill>
              <a:srgbClr val="F2F3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3031" y="2963067"/>
            <a:ext cx="72695" cy="72695"/>
          </a:xfrm>
          <a:prstGeom prst="ellipse">
            <a:avLst/>
          </a:prstGeom>
          <a:solidFill>
            <a:srgbClr val="080809"/>
          </a:solidFill>
          <a:ln w="12700">
            <a:solidFill>
              <a:srgbClr val="08080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6624" y="340156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34840" y="205740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81144" y="22860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73752" y="2724912"/>
            <a:ext cx="548640" cy="548640"/>
          </a:xfrm>
          <a:prstGeom prst="ellipse">
            <a:avLst/>
          </a:prstGeom>
          <a:solidFill>
            <a:srgbClr val="5E82FF">
              <a:alpha val="85000"/>
            </a:srgbClr>
          </a:solidFill>
          <a:ln w="12700">
            <a:solidFill>
              <a:srgbClr val="5E82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10328" y="2999232"/>
            <a:ext cx="484632" cy="0"/>
          </a:xfrm>
          <a:prstGeom prst="line">
            <a:avLst/>
          </a:prstGeom>
          <a:noFill/>
          <a:ln w="12700">
            <a:solidFill>
              <a:srgbClr val="C9CBD4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4581144" y="340156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9360" y="205740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5664" y="22860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55664" y="340156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183880" y="205740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30184" y="22860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30184" y="340156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058400" y="205740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20232A"/>
          </a:solidFill>
          <a:ln w="8890">
            <a:solidFill>
              <a:srgbClr val="35E67B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04704" y="22860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588752" y="2816352"/>
            <a:ext cx="365760" cy="365760"/>
          </a:xfrm>
          <a:prstGeom prst="ellipse">
            <a:avLst/>
          </a:prstGeom>
          <a:solidFill>
            <a:srgbClr val="35E67B">
              <a:alpha val="70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698480" y="2926080"/>
            <a:ext cx="146304" cy="146304"/>
          </a:xfrm>
          <a:prstGeom prst="ellipse">
            <a:avLst/>
          </a:prstGeom>
          <a:solidFill>
            <a:srgbClr val="35E67B"/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04704" y="340156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0120" y="480060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120–180ms micro • 240–420ms component • 600–900ms spatial • 1.8–2.8s hero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DELIVERY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bounded slice, one evidence gate.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combine design ambition, backend risk, and product uncertainty into one context.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94944" y="2441448"/>
            <a:ext cx="329184" cy="329184"/>
          </a:xfrm>
          <a:prstGeom prst="ellipse">
            <a:avLst/>
          </a:prstGeom>
          <a:solidFill>
            <a:srgbClr val="35E67B"/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0545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8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315468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TRUTH LOCK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352044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Bible, PRD, tracker, open decisions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2606040"/>
            <a:ext cx="1527048" cy="0"/>
          </a:xfrm>
          <a:prstGeom prst="line">
            <a:avLst/>
          </a:prstGeom>
          <a:noFill/>
          <a:ln w="12700">
            <a:solidFill>
              <a:srgbClr val="535762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2962656" y="2441448"/>
            <a:ext cx="329184" cy="329184"/>
          </a:xfrm>
          <a:prstGeom prst="ellipse">
            <a:avLst/>
          </a:prstGeom>
          <a:solidFill>
            <a:srgbClr val="35E67B"/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250545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8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926080" y="315468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EVIDENCE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0" y="352044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10–15 moderated core-loop sessions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64992" y="2606040"/>
            <a:ext cx="1527048" cy="0"/>
          </a:xfrm>
          <a:prstGeom prst="line">
            <a:avLst/>
          </a:prstGeom>
          <a:noFill/>
          <a:ln w="12700">
            <a:solidFill>
              <a:srgbClr val="535762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230368" y="2441448"/>
            <a:ext cx="329184" cy="329184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66944" y="250545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8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93792" y="315468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93792" y="352044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privacy, Pool, messaging, safety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32704" y="2606040"/>
            <a:ext cx="1527048" cy="0"/>
          </a:xfrm>
          <a:prstGeom prst="line">
            <a:avLst/>
          </a:prstGeom>
          <a:noFill/>
          <a:ln w="12700">
            <a:solidFill>
              <a:srgbClr val="535762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498080" y="2441448"/>
            <a:ext cx="329184" cy="329184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34656" y="250545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8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461504" y="315468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61504" y="352044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city, trusted supply, manual support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00416" y="2606040"/>
            <a:ext cx="1527048" cy="0"/>
          </a:xfrm>
          <a:prstGeom prst="line">
            <a:avLst/>
          </a:prstGeom>
          <a:noFill/>
          <a:ln w="12700">
            <a:solidFill>
              <a:srgbClr val="535762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765792" y="2441448"/>
            <a:ext cx="329184" cy="329184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02368" y="250545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8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729216" y="315468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729216" y="352044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evidence-led features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OPEN DECISIONS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unresolved questions are named, not hidden.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professional team can work quickly when the boundaries are honest.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3063240" cy="640080"/>
          </a:xfrm>
          <a:prstGeom prst="roundRect">
            <a:avLst>
              <a:gd name="adj" fmla="val 17143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24028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1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920240" y="22219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navigation names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26280" y="2057400"/>
            <a:ext cx="3063240" cy="640080"/>
          </a:xfrm>
          <a:prstGeom prst="roundRect">
            <a:avLst>
              <a:gd name="adj" fmla="val 17143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24028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1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23560" y="22219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or credential?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2057400"/>
            <a:ext cx="3063240" cy="640080"/>
          </a:xfrm>
          <a:prstGeom prst="roundRect">
            <a:avLst>
              <a:gd name="adj" fmla="val 17143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224028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1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326880" y="22219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business capability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108960"/>
            <a:ext cx="3063240" cy="640080"/>
          </a:xfrm>
          <a:prstGeom prst="roundRect">
            <a:avLst>
              <a:gd name="adj" fmla="val 17143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29184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1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920240" y="32735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scaffolding or media product?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26280" y="3108960"/>
            <a:ext cx="3063240" cy="640080"/>
          </a:xfrm>
          <a:prstGeom prst="roundRect">
            <a:avLst>
              <a:gd name="adj" fmla="val 17143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29184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1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23560" y="32735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idea or retire?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3108960"/>
            <a:ext cx="3063240" cy="640080"/>
          </a:xfrm>
          <a:prstGeom prst="roundRect">
            <a:avLst>
              <a:gd name="adj" fmla="val 17143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329184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1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26880" y="32735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type, black, colour, opening asset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HANDOFF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7589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developer should not need hidden chat history.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721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source-of-truth pack is the product contract around the code.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05256" y="1975104"/>
            <a:ext cx="109728" cy="109728"/>
          </a:xfrm>
          <a:prstGeom prst="ellipse">
            <a:avLst/>
          </a:prstGeom>
          <a:solidFill>
            <a:srgbClr val="35E67B"/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956816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BIBLE — WHY FUNC EXISTS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05256" y="2478024"/>
            <a:ext cx="109728" cy="109728"/>
          </a:xfrm>
          <a:prstGeom prst="ellipse">
            <a:avLst/>
          </a:prstGeom>
          <a:solidFill>
            <a:srgbClr val="35E67B"/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459736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— WHAT EACH FEATURE DOES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05256" y="2980944"/>
            <a:ext cx="109728" cy="109728"/>
          </a:xfrm>
          <a:prstGeom prst="ellipse">
            <a:avLst/>
          </a:prstGeom>
          <a:solidFill>
            <a:srgbClr val="35E67B"/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962656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MATRIX — STATUS AND GATES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05256" y="3483864"/>
            <a:ext cx="109728" cy="109728"/>
          </a:xfrm>
          <a:prstGeom prst="ellipse">
            <a:avLst/>
          </a:prstGeom>
          <a:solidFill>
            <a:srgbClr val="35E67B"/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3465576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+ SAFETY — WHAT CAN BE SEEN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05256" y="3986784"/>
            <a:ext cx="109728" cy="109728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968496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— HOW IT SHOULD FEEL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05256" y="4489704"/>
            <a:ext cx="109728" cy="109728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4471416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CONTRACT — PRODUCTION SEAMS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5256" y="4992624"/>
            <a:ext cx="109728" cy="109728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974336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DECISIONS — WHAT PHOENIX MUST CHOOSE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VISION PACKAGE / 25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8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78485"/>
            <a:ext cx="615163" cy="321777"/>
          </a:xfrm>
          <a:prstGeom prst="ellipse">
            <a:avLst/>
          </a:prstGeom>
          <a:solidFill>
            <a:srgbClr val="080809">
              <a:alpha val="0"/>
            </a:srgbClr>
          </a:solidFill>
          <a:ln w="10516">
            <a:solidFill>
              <a:srgbClr val="C9CB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6041" y="749465"/>
            <a:ext cx="179817" cy="179817"/>
          </a:xfrm>
          <a:prstGeom prst="ellipse">
            <a:avLst/>
          </a:prstGeom>
          <a:solidFill>
            <a:srgbClr val="C9CBD4"/>
          </a:solidFill>
          <a:ln w="12700">
            <a:solidFill>
              <a:srgbClr val="C9CB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0459" y="803883"/>
            <a:ext cx="70980" cy="70980"/>
          </a:xfrm>
          <a:prstGeom prst="ellipse">
            <a:avLst/>
          </a:prstGeom>
          <a:solidFill>
            <a:srgbClr val="080809"/>
          </a:solidFill>
          <a:ln w="12700">
            <a:solidFill>
              <a:srgbClr val="08080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3429" y="594360"/>
            <a:ext cx="1261872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70" b="1" spc="-30" kern="0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func.</a:t>
            </a:r>
            <a:endParaRPr lang="en-US" sz="207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CITY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2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LEGIBLE.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13232" y="33375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8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make it safe enough to trust.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60920" y="1188720"/>
            <a:ext cx="3749040" cy="4206240"/>
          </a:xfrm>
          <a:prstGeom prst="roundRect">
            <a:avLst>
              <a:gd name="adj" fmla="val 2927"/>
            </a:avLst>
          </a:prstGeom>
          <a:solidFill>
            <a:srgbClr val="0F1013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48372" y="4469587"/>
            <a:ext cx="862279" cy="-2103120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410651" y="2366467"/>
            <a:ext cx="187452" cy="-967435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8598103" y="1399032"/>
            <a:ext cx="824789" cy="630936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422892" y="2029968"/>
            <a:ext cx="1537106" cy="-504749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435901" y="2114093"/>
            <a:ext cx="862279" cy="757123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8298180" y="2871216"/>
            <a:ext cx="862279" cy="-336499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160459" y="2534717"/>
            <a:ext cx="899770" cy="841248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0060229" y="3375965"/>
            <a:ext cx="974750" cy="-504749"/>
          </a:xfrm>
          <a:prstGeom prst="line">
            <a:avLst/>
          </a:prstGeom>
          <a:noFill/>
          <a:ln w="15240">
            <a:solidFill>
              <a:srgbClr val="C9CBD4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8110728" y="1356970"/>
            <a:ext cx="262433" cy="883310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8373161" y="2240280"/>
            <a:ext cx="862279" cy="841248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235440" y="3081528"/>
            <a:ext cx="449885" cy="1388059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685325" y="4469587"/>
            <a:ext cx="824789" cy="757123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810805" y="5310835"/>
            <a:ext cx="787298" cy="-1177747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8598103" y="4133088"/>
            <a:ext cx="562356" cy="-757123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160459" y="3375965"/>
            <a:ext cx="1049731" cy="-1009498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0210190" y="2366467"/>
            <a:ext cx="712318" cy="-462686"/>
          </a:xfrm>
          <a:prstGeom prst="line">
            <a:avLst/>
          </a:prstGeom>
          <a:noFill/>
          <a:ln w="8890">
            <a:solidFill>
              <a:srgbClr val="535762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635594" y="2198218"/>
            <a:ext cx="149962" cy="8412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0022738" y="2997403"/>
            <a:ext cx="149962" cy="8412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8260690" y="3796589"/>
            <a:ext cx="149962" cy="8412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9647834" y="4595774"/>
            <a:ext cx="149962" cy="8412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7885786" y="2114093"/>
            <a:ext cx="149962" cy="8412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9272930" y="2913278"/>
            <a:ext cx="149962" cy="8412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0660075" y="3712464"/>
            <a:ext cx="149962" cy="8412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8898026" y="4511650"/>
            <a:ext cx="149962" cy="8412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10285171" y="2029968"/>
            <a:ext cx="149962" cy="8412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8523122" y="2829154"/>
            <a:ext cx="149962" cy="8412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9910267" y="3628339"/>
            <a:ext cx="149962" cy="8412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8148218" y="4427525"/>
            <a:ext cx="149962" cy="8412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9535363" y="1945843"/>
            <a:ext cx="149962" cy="8412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7773314" y="2745029"/>
            <a:ext cx="149962" cy="8412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9160459" y="3544214"/>
            <a:ext cx="149962" cy="8412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10547604" y="4343400"/>
            <a:ext cx="149962" cy="8412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8785555" y="1861718"/>
            <a:ext cx="149962" cy="8412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10172700" y="2660904"/>
            <a:ext cx="149962" cy="84125"/>
          </a:xfrm>
          <a:prstGeom prst="line">
            <a:avLst/>
          </a:prstGeom>
          <a:noFill/>
          <a:ln w="5715">
            <a:solidFill>
              <a:srgbClr val="535762">
                <a:alpha val="6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7960766" y="2168957"/>
            <a:ext cx="899770" cy="899770"/>
          </a:xfrm>
          <a:prstGeom prst="ellipse">
            <a:avLst/>
          </a:prstGeom>
          <a:solidFill>
            <a:srgbClr val="35E67B">
              <a:alpha val="25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08203" y="2416393"/>
            <a:ext cx="404896" cy="404896"/>
          </a:xfrm>
          <a:prstGeom prst="ellipse">
            <a:avLst/>
          </a:prstGeom>
          <a:solidFill>
            <a:srgbClr val="35E67B"/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60459" y="2790749"/>
            <a:ext cx="749808" cy="749808"/>
          </a:xfrm>
          <a:prstGeom prst="ellipse">
            <a:avLst/>
          </a:prstGeom>
          <a:solidFill>
            <a:srgbClr val="5E82FF">
              <a:alpha val="25000"/>
            </a:srgbClr>
          </a:solidFill>
          <a:ln w="12700">
            <a:solidFill>
              <a:srgbClr val="5E82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66656" y="2996946"/>
            <a:ext cx="337414" cy="337414"/>
          </a:xfrm>
          <a:prstGeom prst="ellipse">
            <a:avLst/>
          </a:prstGeom>
          <a:solidFill>
            <a:srgbClr val="5E82FF"/>
          </a:solidFill>
          <a:ln w="12700">
            <a:solidFill>
              <a:srgbClr val="5E82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85325" y="1865376"/>
            <a:ext cx="749808" cy="749808"/>
          </a:xfrm>
          <a:prstGeom prst="ellipse">
            <a:avLst/>
          </a:prstGeom>
          <a:solidFill>
            <a:srgbClr val="9D75FF">
              <a:alpha val="25000"/>
            </a:srgbClr>
          </a:solidFill>
          <a:ln w="12700">
            <a:solidFill>
              <a:srgbClr val="9D75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891522" y="2071573"/>
            <a:ext cx="337414" cy="337414"/>
          </a:xfrm>
          <a:prstGeom prst="ellipse">
            <a:avLst/>
          </a:prstGeom>
          <a:solidFill>
            <a:srgbClr val="9D75FF"/>
          </a:solidFill>
          <a:ln w="12700">
            <a:solidFill>
              <a:srgbClr val="9D75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16848" y="3898544"/>
            <a:ext cx="637337" cy="637337"/>
          </a:xfrm>
          <a:prstGeom prst="ellipse">
            <a:avLst/>
          </a:prstGeom>
          <a:solidFill>
            <a:srgbClr val="FF6BAE">
              <a:alpha val="25000"/>
            </a:srgbClr>
          </a:solidFill>
          <a:ln w="12700">
            <a:solidFill>
              <a:srgbClr val="FF6BAE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792116" y="4073812"/>
            <a:ext cx="286802" cy="286802"/>
          </a:xfrm>
          <a:prstGeom prst="ellipse">
            <a:avLst/>
          </a:prstGeom>
          <a:solidFill>
            <a:srgbClr val="FF6BAE"/>
          </a:solidFill>
          <a:ln w="12700">
            <a:solidFill>
              <a:srgbClr val="FF6BAE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947758" y="3795674"/>
            <a:ext cx="674827" cy="674827"/>
          </a:xfrm>
          <a:prstGeom prst="ellipse">
            <a:avLst/>
          </a:prstGeom>
          <a:solidFill>
            <a:srgbClr val="46D8EE">
              <a:alpha val="25000"/>
            </a:srgbClr>
          </a:solidFill>
          <a:ln w="12700">
            <a:solidFill>
              <a:srgbClr val="46D8EE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33335" y="3981252"/>
            <a:ext cx="303672" cy="303672"/>
          </a:xfrm>
          <a:prstGeom prst="ellipse">
            <a:avLst/>
          </a:prstGeom>
          <a:solidFill>
            <a:srgbClr val="46D8EE"/>
          </a:solidFill>
          <a:ln w="12700">
            <a:solidFill>
              <a:srgbClr val="46D8EE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35824" y="1948586"/>
            <a:ext cx="1424635" cy="1424635"/>
          </a:xfrm>
          <a:prstGeom prst="ellipse">
            <a:avLst/>
          </a:prstGeom>
          <a:solidFill>
            <a:srgbClr val="35E67B">
              <a:alpha val="7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98257" y="2211019"/>
            <a:ext cx="899770" cy="899770"/>
          </a:xfrm>
          <a:prstGeom prst="ellipse">
            <a:avLst/>
          </a:prstGeom>
          <a:solidFill>
            <a:srgbClr val="35E67B">
              <a:alpha val="11000"/>
            </a:srgbClr>
          </a:solidFill>
          <a:ln w="12700">
            <a:solidFill>
              <a:srgbClr val="35E67B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98334" y="1483157"/>
            <a:ext cx="1012241" cy="462686"/>
          </a:xfrm>
          <a:prstGeom prst="roundRect">
            <a:avLst>
              <a:gd name="adj" fmla="val 23715"/>
            </a:avLst>
          </a:prstGeom>
          <a:solidFill>
            <a:srgbClr val="17191E"/>
          </a:solidFill>
          <a:ln w="8890">
            <a:solidFill>
              <a:srgbClr val="20232A">
                <a:alpha val="6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92060" y="1546250"/>
            <a:ext cx="749808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35E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CITY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94360" y="647395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10" kern="0" dirty="0">
                <a:solidFill>
                  <a:srgbClr val="535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/ CONFIDENTIAL — GENERATED FROM BIBLE 1.0 + PRD 1.0 DRAFT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576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Func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 — Developer Vision and Handoff</dc:title>
  <dc:subject>Developer presentation generated from Func source-of-truth pack v1.0 draft</dc:subject>
  <dc:creator>Func</dc:creator>
  <cp:lastModifiedBy>Func</cp:lastModifiedBy>
  <cp:revision>1</cp:revision>
  <dcterms:created xsi:type="dcterms:W3CDTF">2026-08-25T10:47:50Z</dcterms:created>
  <dcterms:modified xsi:type="dcterms:W3CDTF">2026-08-25T10:47:50Z</dcterms:modified>
</cp:coreProperties>
</file>
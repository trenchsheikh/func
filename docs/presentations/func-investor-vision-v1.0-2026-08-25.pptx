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product in one sentence. This is a vision package, not a claim that every future visual or production capability exists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a real decision journey rather than attacking competitors. The problem is fragmented context and access, not a lack of social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is the interface. It is not a heatmap product or a social feed with a map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cleanest investor explanation of the product. It also keeps Func from sounding like a generic social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finished map is a visual north star. The active build already demonstrates the behavioural and privacy foundation, but the custom map treatment is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say Func guarantees entry. The current meaning is a host-issued acceptance state; the technical meaning of “pass” remains an open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builds credibility by naming the gap. Investors will trust the team more if the prototype boundary is explicit.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the map alone is not the moat. The plausible moat is the intent + supply + trust graph built through repeated successful nights.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test count is engineering evidence only. Do not use it as traction. The three known residuals are documented and the removed livePinFor API must not be restored.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professional developer conversation begins. The AI workflow remains useful for product iteration, but production authority needs senior backend, security, safety, and operations ownership.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both cities are ready. This is a sequencing hypothesis designed to make the cold-start problem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overstate this as a proven revenue model. The deck should show the direction and exactly what must be validated.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deliberately does not invent a funding number. The next professional step is to cost the production plan with a senior technical lead and safety/operations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north-star outcome. Invite discussion about the wedge, the evidence plan, and the production team required to earn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C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1053"/>
            <a:ext cx="615163" cy="321777"/>
          </a:xfrm>
          <a:prstGeom prst="ellipse">
            <a:avLst/>
          </a:prstGeom>
          <a:solidFill>
            <a:srgbClr val="080809">
              <a:alpha val="0"/>
            </a:srgbClr>
          </a:solidFill>
          <a:ln w="10516">
            <a:solidFill>
              <a:srgbClr val="C9CB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7753" y="722033"/>
            <a:ext cx="179817" cy="179817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2171" y="776451"/>
            <a:ext cx="70980" cy="70980"/>
          </a:xfrm>
          <a:prstGeom prst="ellipse">
            <a:avLst/>
          </a:prstGeom>
          <a:solidFill>
            <a:srgbClr val="080809"/>
          </a:solidFill>
          <a:ln w="12700">
            <a:solidFill>
              <a:srgbClr val="0808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55141" y="566928"/>
            <a:ext cx="1261872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70" b="1" spc="-3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func.</a:t>
            </a:r>
            <a:endParaRPr lang="en-US" sz="2070" dirty="0"/>
          </a:p>
        </p:txBody>
      </p:sp>
      <p:sp>
        <p:nvSpPr>
          <p:cNvPr id="6" name="Text 4"/>
          <p:cNvSpPr/>
          <p:nvPr/>
        </p:nvSpPr>
        <p:spPr>
          <a:xfrm>
            <a:off x="658368" y="160020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LAYER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GOING OUT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turns a fragmented night into one clear, living opportunity.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92240" y="868680"/>
            <a:ext cx="4983480" cy="4937760"/>
          </a:xfrm>
          <a:prstGeom prst="roundRect">
            <a:avLst>
              <a:gd name="adj" fmla="val 2222"/>
            </a:avLst>
          </a:prstGeom>
          <a:solidFill>
            <a:srgbClr val="0F1013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41414" y="4720133"/>
            <a:ext cx="1146200" cy="-2468880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887614" y="2251253"/>
            <a:ext cx="249174" cy="-1135685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136788" y="1115568"/>
            <a:ext cx="1096366" cy="740664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233154" y="1856232"/>
            <a:ext cx="2043227" cy="-592531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591910" y="1954987"/>
            <a:ext cx="1146200" cy="888797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738110" y="2843784"/>
            <a:ext cx="1146200" cy="-395021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884310" y="2448763"/>
            <a:ext cx="1196035" cy="987552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0080346" y="3436315"/>
            <a:ext cx="1295705" cy="-592531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488936" y="1066190"/>
            <a:ext cx="348844" cy="1036930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837780" y="2103120"/>
            <a:ext cx="1146200" cy="987552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983980" y="3090672"/>
            <a:ext cx="598018" cy="1629461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581998" y="4720133"/>
            <a:ext cx="1096366" cy="888797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090258" y="5707685"/>
            <a:ext cx="1046531" cy="-1382573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8136788" y="4325112"/>
            <a:ext cx="747522" cy="-888797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884310" y="3436315"/>
            <a:ext cx="1395374" cy="-1185062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279685" y="2251253"/>
            <a:ext cx="946861" cy="-543154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7439101" y="2201875"/>
            <a:ext cx="199339" cy="9875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282989" y="3140050"/>
            <a:ext cx="199339" cy="9875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6940753" y="4078224"/>
            <a:ext cx="199339" cy="9875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8784641" y="5016398"/>
            <a:ext cx="199339" cy="9875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0628528" y="2103120"/>
            <a:ext cx="199339" cy="9875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8286293" y="3041294"/>
            <a:ext cx="199339" cy="9875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0130180" y="3979469"/>
            <a:ext cx="199339" cy="9875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7787945" y="4917643"/>
            <a:ext cx="199339" cy="9875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631832" y="2004365"/>
            <a:ext cx="199339" cy="9875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7289597" y="2942539"/>
            <a:ext cx="199339" cy="9875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9133484" y="3880714"/>
            <a:ext cx="199339" cy="9875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0977372" y="4818888"/>
            <a:ext cx="199339" cy="9875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8635136" y="1905610"/>
            <a:ext cx="199339" cy="9875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10479024" y="2843784"/>
            <a:ext cx="199339" cy="9875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8136788" y="3781958"/>
            <a:ext cx="199339" cy="9875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980676" y="4720133"/>
            <a:ext cx="199339" cy="9875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7638440" y="1806854"/>
            <a:ext cx="199339" cy="9875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9482328" y="2745029"/>
            <a:ext cx="199339" cy="9875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7289597" y="1949501"/>
            <a:ext cx="1196035" cy="1196035"/>
          </a:xfrm>
          <a:prstGeom prst="ellipse">
            <a:avLst/>
          </a:prstGeom>
          <a:solidFill>
            <a:srgbClr val="35E67B">
              <a:alpha val="25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18506" y="2278410"/>
            <a:ext cx="538216" cy="538216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84310" y="2691079"/>
            <a:ext cx="996696" cy="996696"/>
          </a:xfrm>
          <a:prstGeom prst="ellipse">
            <a:avLst/>
          </a:prstGeom>
          <a:solidFill>
            <a:srgbClr val="5E82FF">
              <a:alpha val="25000"/>
            </a:srgbClr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58402" y="2965171"/>
            <a:ext cx="448513" cy="448513"/>
          </a:xfrm>
          <a:prstGeom prst="ellipse">
            <a:avLst/>
          </a:prstGeom>
          <a:solidFill>
            <a:srgbClr val="5E82FF"/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581998" y="1604772"/>
            <a:ext cx="996696" cy="996696"/>
          </a:xfrm>
          <a:prstGeom prst="ellipse">
            <a:avLst/>
          </a:prstGeom>
          <a:solidFill>
            <a:srgbClr val="9D75FF">
              <a:alpha val="25000"/>
            </a:srgbClr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56089" y="1878863"/>
            <a:ext cx="448513" cy="448513"/>
          </a:xfrm>
          <a:prstGeom prst="ellipse">
            <a:avLst/>
          </a:prstGeom>
          <a:solidFill>
            <a:srgbClr val="9D75FF"/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61706" y="4000271"/>
            <a:ext cx="847192" cy="847192"/>
          </a:xfrm>
          <a:prstGeom prst="ellipse">
            <a:avLst/>
          </a:prstGeom>
          <a:solidFill>
            <a:srgbClr val="FF6BAE">
              <a:alpha val="25000"/>
            </a:srgbClr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94683" y="4233249"/>
            <a:ext cx="381236" cy="381236"/>
          </a:xfrm>
          <a:prstGeom prst="ellipse">
            <a:avLst/>
          </a:prstGeom>
          <a:solidFill>
            <a:srgbClr val="FF6BAE"/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930841" y="3876599"/>
            <a:ext cx="897026" cy="897026"/>
          </a:xfrm>
          <a:prstGeom prst="ellipse">
            <a:avLst/>
          </a:prstGeom>
          <a:solidFill>
            <a:srgbClr val="46D8EE">
              <a:alpha val="25000"/>
            </a:srgbClr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77523" y="4123281"/>
            <a:ext cx="403662" cy="403662"/>
          </a:xfrm>
          <a:prstGeom prst="ellipse">
            <a:avLst/>
          </a:prstGeom>
          <a:solidFill>
            <a:srgbClr val="46D8EE"/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90588" y="1650035"/>
            <a:ext cx="1893722" cy="1893722"/>
          </a:xfrm>
          <a:prstGeom prst="ellipse">
            <a:avLst/>
          </a:prstGeom>
          <a:solidFill>
            <a:srgbClr val="35E67B">
              <a:alpha val="7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39432" y="1998878"/>
            <a:ext cx="1196035" cy="1196035"/>
          </a:xfrm>
          <a:prstGeom prst="ellipse">
            <a:avLst/>
          </a:prstGeom>
          <a:solidFill>
            <a:srgbClr val="35E67B">
              <a:alpha val="11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40753" y="1214323"/>
            <a:ext cx="1345540" cy="543154"/>
          </a:xfrm>
          <a:prstGeom prst="roundRect">
            <a:avLst>
              <a:gd name="adj" fmla="val 20202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65340" y="1288390"/>
            <a:ext cx="996696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CITY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85800" y="589788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PACKAGE / PROTOTYPE + FUTURE DIRECTION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night is fragmented.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exists. The decision still does not.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1691640" cy="685800"/>
          </a:xfrm>
          <a:prstGeom prst="roundRect">
            <a:avLst>
              <a:gd name="adj" fmla="val 16000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505456"/>
            <a:ext cx="146304" cy="146304"/>
          </a:xfrm>
          <a:prstGeom prst="ellipse">
            <a:avLst/>
          </a:prstGeom>
          <a:solidFill>
            <a:srgbClr val="FF6BAE"/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4323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2532888"/>
            <a:ext cx="1691640" cy="685800"/>
          </a:xfrm>
          <a:prstGeom prst="roundRect">
            <a:avLst>
              <a:gd name="adj" fmla="val 16000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2798064"/>
            <a:ext cx="146304" cy="146304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7249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CHAT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20640" y="2240280"/>
            <a:ext cx="1691640" cy="685800"/>
          </a:xfrm>
          <a:prstGeom prst="roundRect">
            <a:avLst>
              <a:gd name="adj" fmla="val 16000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76088" y="2505456"/>
            <a:ext cx="146304" cy="146304"/>
          </a:xfrm>
          <a:prstGeom prst="ellipse">
            <a:avLst/>
          </a:prstGeom>
          <a:solidFill>
            <a:srgbClr val="5E82FF"/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24323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69480" y="2532888"/>
            <a:ext cx="1691640" cy="685800"/>
          </a:xfrm>
          <a:prstGeom prst="roundRect">
            <a:avLst>
              <a:gd name="adj" fmla="val 16000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4928" y="2798064"/>
            <a:ext cx="146304" cy="146304"/>
          </a:xfrm>
          <a:prstGeom prst="ellipse">
            <a:avLst/>
          </a:prstGeom>
          <a:solidFill>
            <a:srgbClr val="9D75FF"/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27249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418320" y="2240280"/>
            <a:ext cx="1691640" cy="685800"/>
          </a:xfrm>
          <a:prstGeom prst="roundRect">
            <a:avLst>
              <a:gd name="adj" fmla="val 16000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73768" y="2505456"/>
            <a:ext cx="146304" cy="146304"/>
          </a:xfrm>
          <a:prstGeom prst="ellipse">
            <a:avLst/>
          </a:prstGeom>
          <a:solidFill>
            <a:srgbClr val="46D8EE"/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29800" y="24323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PROMOTER DM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60120" y="3886200"/>
            <a:ext cx="10149840" cy="0"/>
          </a:xfrm>
          <a:prstGeom prst="line">
            <a:avLst/>
          </a:prstGeom>
          <a:noFill/>
          <a:ln w="12700">
            <a:solidFill>
              <a:srgbClr val="535762">
                <a:alpha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1440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happening?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88620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open?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76656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participate?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372600" y="4251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trustworthy?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living map, not another feed.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is the bridge between discovery and a real night out.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5394960" cy="3886200"/>
          </a:xfrm>
          <a:prstGeom prst="roundRect">
            <a:avLst>
              <a:gd name="adj" fmla="val 2824"/>
            </a:avLst>
          </a:prstGeom>
          <a:solidFill>
            <a:srgbClr val="0F1013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1268" y="5134356"/>
            <a:ext cx="1240841" cy="-1943100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242109" y="3191256"/>
            <a:ext cx="269748" cy="-893826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511857" y="2297430"/>
            <a:ext cx="1186891" cy="582930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698748" y="2880360"/>
            <a:ext cx="2211934" cy="-466344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39419" y="2958084"/>
            <a:ext cx="1240841" cy="699516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080260" y="3657600"/>
            <a:ext cx="1240841" cy="-310896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321101" y="3346704"/>
            <a:ext cx="1294790" cy="777240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615891" y="4123944"/>
            <a:ext cx="1402690" cy="-466344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810512" y="2258568"/>
            <a:ext cx="377647" cy="816102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188159" y="3074670"/>
            <a:ext cx="1240841" cy="777240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3429000" y="3851910"/>
            <a:ext cx="647395" cy="1282446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076395" y="5134356"/>
            <a:ext cx="1186891" cy="699516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378915" y="5911596"/>
            <a:ext cx="1132942" cy="-1088136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2511857" y="4823460"/>
            <a:ext cx="809244" cy="-699516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321101" y="4123944"/>
            <a:ext cx="1510589" cy="-932688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4831690" y="3191256"/>
            <a:ext cx="1025042" cy="-427482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536899" y="5134356"/>
            <a:ext cx="215798" cy="77724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5533034" y="2841498"/>
            <a:ext cx="215798" cy="77724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2997403" y="3579876"/>
            <a:ext cx="215798" cy="77724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4993538" y="4318254"/>
            <a:ext cx="215798" cy="77724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2457907" y="5056632"/>
            <a:ext cx="215798" cy="77724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4454042" y="2763774"/>
            <a:ext cx="215798" cy="77724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918411" y="3502152"/>
            <a:ext cx="215798" cy="77724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3914546" y="4240530"/>
            <a:ext cx="215798" cy="77724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378915" y="4978908"/>
            <a:ext cx="215798" cy="77724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3375050" y="2686050"/>
            <a:ext cx="215798" cy="77724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5371186" y="3424428"/>
            <a:ext cx="215798" cy="77724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2835554" y="4162806"/>
            <a:ext cx="215798" cy="77724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4831690" y="4901184"/>
            <a:ext cx="215798" cy="77724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2296058" y="2608326"/>
            <a:ext cx="215798" cy="77724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4292194" y="3346704"/>
            <a:ext cx="215798" cy="77724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1756562" y="4085082"/>
            <a:ext cx="215798" cy="77724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3752698" y="4823460"/>
            <a:ext cx="215798" cy="77724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1217066" y="2530602"/>
            <a:ext cx="215798" cy="77724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594714" y="2777033"/>
            <a:ext cx="1294790" cy="1294790"/>
          </a:xfrm>
          <a:prstGeom prst="ellipse">
            <a:avLst/>
          </a:prstGeom>
          <a:solidFill>
            <a:srgbClr val="35E67B">
              <a:alpha val="25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50781" y="3133100"/>
            <a:ext cx="582656" cy="582656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21101" y="3390138"/>
            <a:ext cx="1078992" cy="1078992"/>
          </a:xfrm>
          <a:prstGeom prst="ellipse">
            <a:avLst/>
          </a:prstGeom>
          <a:solidFill>
            <a:srgbClr val="5E82FF">
              <a:alpha val="25000"/>
            </a:srgbClr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17824" y="3686861"/>
            <a:ext cx="485546" cy="485546"/>
          </a:xfrm>
          <a:prstGeom prst="ellipse">
            <a:avLst/>
          </a:prstGeom>
          <a:solidFill>
            <a:srgbClr val="5E82FF"/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76395" y="2535174"/>
            <a:ext cx="1078992" cy="1078992"/>
          </a:xfrm>
          <a:prstGeom prst="ellipse">
            <a:avLst/>
          </a:prstGeom>
          <a:solidFill>
            <a:srgbClr val="9D75FF">
              <a:alpha val="25000"/>
            </a:srgbClr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73118" y="2831897"/>
            <a:ext cx="485546" cy="485546"/>
          </a:xfrm>
          <a:prstGeom prst="ellipse">
            <a:avLst/>
          </a:prstGeom>
          <a:solidFill>
            <a:srgbClr val="9D75FF"/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38832" y="4442612"/>
            <a:ext cx="917143" cy="917143"/>
          </a:xfrm>
          <a:prstGeom prst="ellipse">
            <a:avLst/>
          </a:prstGeom>
          <a:solidFill>
            <a:srgbClr val="FF6BAE">
              <a:alpha val="25000"/>
            </a:srgbClr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91046" y="4694827"/>
            <a:ext cx="412714" cy="412714"/>
          </a:xfrm>
          <a:prstGeom prst="ellipse">
            <a:avLst/>
          </a:prstGeom>
          <a:solidFill>
            <a:srgbClr val="FF6BAE"/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54042" y="4337914"/>
            <a:ext cx="971093" cy="971093"/>
          </a:xfrm>
          <a:prstGeom prst="ellipse">
            <a:avLst/>
          </a:prstGeom>
          <a:solidFill>
            <a:srgbClr val="46D8EE">
              <a:alpha val="25000"/>
            </a:srgbClr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21093" y="4604964"/>
            <a:ext cx="436992" cy="436992"/>
          </a:xfrm>
          <a:prstGeom prst="ellipse">
            <a:avLst/>
          </a:prstGeom>
          <a:solidFill>
            <a:srgbClr val="46D8EE"/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71016" y="2438248"/>
            <a:ext cx="2050085" cy="2050085"/>
          </a:xfrm>
          <a:prstGeom prst="ellipse">
            <a:avLst/>
          </a:prstGeom>
          <a:solidFill>
            <a:srgbClr val="35E67B">
              <a:alpha val="7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648663" y="2815895"/>
            <a:ext cx="1294790" cy="1294790"/>
          </a:xfrm>
          <a:prstGeom prst="ellipse">
            <a:avLst/>
          </a:prstGeom>
          <a:solidFill>
            <a:srgbClr val="35E67B">
              <a:alpha val="11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17066" y="2375154"/>
            <a:ext cx="1456639" cy="427482"/>
          </a:xfrm>
          <a:prstGeom prst="roundRect">
            <a:avLst>
              <a:gd name="adj" fmla="val 25668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51940" y="2433447"/>
            <a:ext cx="1078992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CITY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903720" y="1691640"/>
            <a:ext cx="1920240" cy="3977640"/>
          </a:xfrm>
          <a:prstGeom prst="roundRect">
            <a:avLst>
              <a:gd name="adj" fmla="val 5714"/>
            </a:avLst>
          </a:prstGeom>
          <a:solidFill>
            <a:srgbClr val="050506"/>
          </a:solidFill>
          <a:ln w="8890">
            <a:solidFill>
              <a:srgbClr val="C9CBD4">
                <a:alpha val="6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67728" y="1819656"/>
            <a:ext cx="1792224" cy="3776472"/>
          </a:xfrm>
          <a:prstGeom prst="roundRect">
            <a:avLst>
              <a:gd name="adj" fmla="val 6122"/>
            </a:avLst>
          </a:prstGeom>
          <a:solidFill>
            <a:srgbClr val="0F1013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33411" y="1737360"/>
            <a:ext cx="460858" cy="36576"/>
          </a:xfrm>
          <a:prstGeom prst="roundRect">
            <a:avLst>
              <a:gd name="adj" fmla="val 300000"/>
            </a:avLst>
          </a:prstGeom>
          <a:solidFill>
            <a:srgbClr val="20232A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76872" y="1837944"/>
            <a:ext cx="1773936" cy="2267255"/>
          </a:xfrm>
          <a:prstGeom prst="roundRect">
            <a:avLst>
              <a:gd name="adj" fmla="val 6186"/>
            </a:avLst>
          </a:prstGeom>
          <a:solidFill>
            <a:srgbClr val="0F1013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65569" y="3606403"/>
            <a:ext cx="408005" cy="-1133627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7473574" y="2472775"/>
            <a:ext cx="88697" cy="-521469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7562271" y="1951307"/>
            <a:ext cx="390266" cy="340088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7952537" y="2291395"/>
            <a:ext cx="727314" cy="-272071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7012351" y="2336740"/>
            <a:ext cx="408005" cy="408106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7420356" y="2744846"/>
            <a:ext cx="408005" cy="-181380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7828361" y="2563466"/>
            <a:ext cx="425745" cy="453451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8254106" y="3016916"/>
            <a:ext cx="461223" cy="-272071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7331659" y="1928634"/>
            <a:ext cx="124176" cy="476124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7455835" y="2404758"/>
            <a:ext cx="408005" cy="453451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7863840" y="2858209"/>
            <a:ext cx="212872" cy="748194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8076712" y="3606403"/>
            <a:ext cx="390266" cy="408106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7189744" y="4059854"/>
            <a:ext cx="372527" cy="-634831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7562271" y="3425022"/>
            <a:ext cx="266090" cy="-408106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7828361" y="3016916"/>
            <a:ext cx="496702" cy="-544141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8325063" y="2472775"/>
            <a:ext cx="337048" cy="-249398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7509053" y="2835536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8165409" y="3266315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7331659" y="3697093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7988016" y="2359413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7154266" y="2790191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7810622" y="3220969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8466978" y="3651748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7633228" y="2314068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8289585" y="2744846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7455835" y="3175624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8112191" y="3606403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7278441" y="2268722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7934797" y="2699501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8591154" y="3130279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7757404" y="3561058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8413760" y="2223377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7580010" y="2654156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8236367" y="3084934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7260702" y="2395938"/>
            <a:ext cx="425745" cy="425745"/>
          </a:xfrm>
          <a:prstGeom prst="ellipse">
            <a:avLst/>
          </a:prstGeom>
          <a:solidFill>
            <a:srgbClr val="35E67B">
              <a:alpha val="25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377782" y="2513018"/>
            <a:ext cx="191585" cy="191585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828361" y="2726160"/>
            <a:ext cx="354787" cy="354787"/>
          </a:xfrm>
          <a:prstGeom prst="ellipse">
            <a:avLst/>
          </a:prstGeom>
          <a:solidFill>
            <a:srgbClr val="5E82FF">
              <a:alpha val="25000"/>
            </a:srgbClr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925928" y="2823727"/>
            <a:ext cx="159654" cy="159654"/>
          </a:xfrm>
          <a:prstGeom prst="ellipse">
            <a:avLst/>
          </a:prstGeom>
          <a:solidFill>
            <a:srgbClr val="5E82FF"/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076712" y="2227364"/>
            <a:ext cx="354787" cy="354787"/>
          </a:xfrm>
          <a:prstGeom prst="ellipse">
            <a:avLst/>
          </a:prstGeom>
          <a:solidFill>
            <a:srgbClr val="9D75FF">
              <a:alpha val="25000"/>
            </a:srgbClr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174279" y="2324931"/>
            <a:ext cx="159654" cy="159654"/>
          </a:xfrm>
          <a:prstGeom prst="ellipse">
            <a:avLst/>
          </a:prstGeom>
          <a:solidFill>
            <a:srgbClr val="9D75FF"/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571141" y="3319583"/>
            <a:ext cx="301569" cy="301569"/>
          </a:xfrm>
          <a:prstGeom prst="ellipse">
            <a:avLst/>
          </a:prstGeom>
          <a:solidFill>
            <a:srgbClr val="FF6BAE">
              <a:alpha val="25000"/>
            </a:srgbClr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654072" y="3402514"/>
            <a:ext cx="135706" cy="135706"/>
          </a:xfrm>
          <a:prstGeom prst="ellipse">
            <a:avLst/>
          </a:prstGeom>
          <a:solidFill>
            <a:srgbClr val="FF6BAE"/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00888" y="3265368"/>
            <a:ext cx="319308" cy="319308"/>
          </a:xfrm>
          <a:prstGeom prst="ellipse">
            <a:avLst/>
          </a:prstGeom>
          <a:solidFill>
            <a:srgbClr val="46D8EE">
              <a:alpha val="25000"/>
            </a:srgbClr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288698" y="3353178"/>
            <a:ext cx="143689" cy="143689"/>
          </a:xfrm>
          <a:prstGeom prst="ellipse">
            <a:avLst/>
          </a:prstGeom>
          <a:solidFill>
            <a:srgbClr val="46D8EE"/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154266" y="2294435"/>
            <a:ext cx="674096" cy="674096"/>
          </a:xfrm>
          <a:prstGeom prst="ellipse">
            <a:avLst/>
          </a:prstGeom>
          <a:solidFill>
            <a:srgbClr val="35E67B">
              <a:alpha val="7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278441" y="2418611"/>
            <a:ext cx="425745" cy="425745"/>
          </a:xfrm>
          <a:prstGeom prst="ellipse">
            <a:avLst/>
          </a:prstGeom>
          <a:solidFill>
            <a:srgbClr val="35E67B">
              <a:alpha val="11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136526" y="1996652"/>
            <a:ext cx="478963" cy="249398"/>
          </a:xfrm>
          <a:prstGeom prst="roundRect">
            <a:avLst>
              <a:gd name="adj" fmla="val 43997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180875" y="2030661"/>
            <a:ext cx="354787" cy="1587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CITY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7086600" y="4436212"/>
            <a:ext cx="1554480" cy="676199"/>
          </a:xfrm>
          <a:prstGeom prst="roundRect">
            <a:avLst>
              <a:gd name="adj" fmla="val 16227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196328" y="4595317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SHIFT / MISSION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7196328" y="4794199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something alive nearby.</a:t>
            </a:r>
            <a:endParaRPr lang="en-US" sz="1050" dirty="0"/>
          </a:p>
        </p:txBody>
      </p:sp>
      <p:sp>
        <p:nvSpPr>
          <p:cNvPr id="109" name="Text 107"/>
          <p:cNvSpPr/>
          <p:nvPr/>
        </p:nvSpPr>
        <p:spPr>
          <a:xfrm>
            <a:off x="6995160" y="5742432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25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/ FUTURE VISION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9372600" y="1938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9372600" y="22128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Places, events, and access first.</a:t>
            </a:r>
            <a:endParaRPr lang="en-US" sz="2000" dirty="0"/>
          </a:p>
        </p:txBody>
      </p:sp>
      <p:sp>
        <p:nvSpPr>
          <p:cNvPr id="112" name="Text 110"/>
          <p:cNvSpPr/>
          <p:nvPr/>
        </p:nvSpPr>
        <p:spPr>
          <a:xfrm>
            <a:off x="9372600" y="30632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only when they choose to be visible. Live energy without unsupported precision.</a:t>
            </a:r>
            <a:endParaRPr lang="en-US" sz="1300" dirty="0"/>
          </a:p>
        </p:txBody>
      </p:sp>
      <p:sp>
        <p:nvSpPr>
          <p:cNvPr id="113" name="Text 111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THE CORE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deliberate steps from uncertainty to a night out.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is the loop, not the feature count.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329184" cy="329184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5054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3218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5844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is actually 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43000" y="2816352"/>
            <a:ext cx="1600200" cy="0"/>
          </a:xfrm>
          <a:prstGeom prst="line">
            <a:avLst/>
          </a:prstGeom>
          <a:noFill/>
          <a:ln w="12700">
            <a:solidFill>
              <a:srgbClr val="535762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944368" y="2651760"/>
            <a:ext cx="329184" cy="329184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5054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44368" y="3218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44368" y="35844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context, cost, and trust.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55848" y="2816352"/>
            <a:ext cx="1600200" cy="0"/>
          </a:xfrm>
          <a:prstGeom prst="line">
            <a:avLst/>
          </a:prstGeom>
          <a:noFill/>
          <a:ln w="12700">
            <a:solidFill>
              <a:srgbClr val="535762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157216" y="2651760"/>
            <a:ext cx="329184" cy="329184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25054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57216" y="3218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57216" y="35844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safe next step.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68696" y="2816352"/>
            <a:ext cx="1600200" cy="0"/>
          </a:xfrm>
          <a:prstGeom prst="line">
            <a:avLst/>
          </a:prstGeom>
          <a:noFill/>
          <a:ln w="12700">
            <a:solidFill>
              <a:srgbClr val="535762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370064" y="2651760"/>
            <a:ext cx="329184" cy="329184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43216" y="25054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70064" y="3218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70064" y="35844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decides.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81544" y="2816352"/>
            <a:ext cx="1600200" cy="0"/>
          </a:xfrm>
          <a:prstGeom prst="line">
            <a:avLst/>
          </a:prstGeom>
          <a:noFill/>
          <a:ln w="12700">
            <a:solidFill>
              <a:srgbClr val="535762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582912" y="2651760"/>
            <a:ext cx="329184" cy="329184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56064" y="25054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582912" y="3218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OUT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82912" y="35844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gets out of the way.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4983480"/>
            <a:ext cx="10744200" cy="640080"/>
          </a:xfrm>
          <a:prstGeom prst="roundRect">
            <a:avLst>
              <a:gd name="adj" fmla="val 17143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18464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NORTH-STAR OUTCOME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08960" y="512064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successful night enabled — not minutes spent in the app.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THE 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city becomes the interface.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premium instrument around a bright, living city.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6629400" cy="4160520"/>
          </a:xfrm>
          <a:prstGeom prst="roundRect">
            <a:avLst>
              <a:gd name="adj" fmla="val 2637"/>
            </a:avLst>
          </a:prstGeom>
          <a:solidFill>
            <a:srgbClr val="0F1013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7270" y="5119726"/>
            <a:ext cx="1524762" cy="-2080260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542032" y="3039466"/>
            <a:ext cx="331470" cy="-956920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873502" y="2082546"/>
            <a:ext cx="1458468" cy="624078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331970" y="2706624"/>
            <a:ext cx="2718054" cy="-499262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18388" y="2789834"/>
            <a:ext cx="1524762" cy="748894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343150" y="3538728"/>
            <a:ext cx="1524762" cy="-332842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867912" y="3205886"/>
            <a:ext cx="1591056" cy="832104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458968" y="4037990"/>
            <a:ext cx="1723644" cy="-499262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011680" y="2040941"/>
            <a:ext cx="464058" cy="873709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475738" y="2914650"/>
            <a:ext cx="1524762" cy="832104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4000500" y="3746754"/>
            <a:ext cx="795528" cy="1372972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796028" y="5119726"/>
            <a:ext cx="1458468" cy="748894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481328" y="5951830"/>
            <a:ext cx="1392174" cy="-1164946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2873502" y="4786884"/>
            <a:ext cx="994410" cy="-748894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867912" y="4037990"/>
            <a:ext cx="1856232" cy="-998525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5724144" y="3039466"/>
            <a:ext cx="1259586" cy="-457657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4862322" y="2581808"/>
            <a:ext cx="265176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746504" y="3372307"/>
            <a:ext cx="265176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4199382" y="4162806"/>
            <a:ext cx="265176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6652260" y="4953305"/>
            <a:ext cx="265176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3536442" y="2498598"/>
            <a:ext cx="265176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989320" y="3289097"/>
            <a:ext cx="265176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2873502" y="4079596"/>
            <a:ext cx="265176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5326380" y="4870094"/>
            <a:ext cx="265176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2210562" y="2415388"/>
            <a:ext cx="265176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4663440" y="3205886"/>
            <a:ext cx="265176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547622" y="3996385"/>
            <a:ext cx="265176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4000500" y="4786884"/>
            <a:ext cx="265176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6453378" y="2332177"/>
            <a:ext cx="265176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3337560" y="3122676"/>
            <a:ext cx="265176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5790438" y="3913175"/>
            <a:ext cx="265176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2674620" y="4703674"/>
            <a:ext cx="265176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5127498" y="5494172"/>
            <a:ext cx="265176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2011680" y="3039466"/>
            <a:ext cx="265176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746504" y="2493569"/>
            <a:ext cx="1591056" cy="1591056"/>
          </a:xfrm>
          <a:prstGeom prst="ellipse">
            <a:avLst/>
          </a:prstGeom>
          <a:solidFill>
            <a:srgbClr val="35E67B">
              <a:alpha val="25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84044" y="2931109"/>
            <a:ext cx="715975" cy="715975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67912" y="3167024"/>
            <a:ext cx="1325880" cy="1325880"/>
          </a:xfrm>
          <a:prstGeom prst="ellipse">
            <a:avLst/>
          </a:prstGeom>
          <a:solidFill>
            <a:srgbClr val="5E82FF">
              <a:alpha val="25000"/>
            </a:srgbClr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32529" y="3531641"/>
            <a:ext cx="596646" cy="596646"/>
          </a:xfrm>
          <a:prstGeom prst="ellipse">
            <a:avLst/>
          </a:prstGeom>
          <a:solidFill>
            <a:srgbClr val="5E82FF"/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96028" y="2251710"/>
            <a:ext cx="1325880" cy="1325880"/>
          </a:xfrm>
          <a:prstGeom prst="ellipse">
            <a:avLst/>
          </a:prstGeom>
          <a:solidFill>
            <a:srgbClr val="9D75FF">
              <a:alpha val="25000"/>
            </a:srgbClr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60645" y="2616327"/>
            <a:ext cx="596646" cy="596646"/>
          </a:xfrm>
          <a:prstGeom prst="ellipse">
            <a:avLst/>
          </a:prstGeom>
          <a:solidFill>
            <a:srgbClr val="9D75FF"/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06649" y="4306595"/>
            <a:ext cx="1126998" cy="1126998"/>
          </a:xfrm>
          <a:prstGeom prst="ellipse">
            <a:avLst/>
          </a:prstGeom>
          <a:solidFill>
            <a:srgbClr val="FF6BAE">
              <a:alpha val="25000"/>
            </a:srgbClr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16573" y="4616520"/>
            <a:ext cx="507149" cy="507149"/>
          </a:xfrm>
          <a:prstGeom prst="ellipse">
            <a:avLst/>
          </a:prstGeom>
          <a:solidFill>
            <a:srgbClr val="FF6BAE"/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60086" y="4190238"/>
            <a:ext cx="1193292" cy="1193292"/>
          </a:xfrm>
          <a:prstGeom prst="ellipse">
            <a:avLst/>
          </a:prstGeom>
          <a:solidFill>
            <a:srgbClr val="46D8EE">
              <a:alpha val="25000"/>
            </a:srgbClr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88241" y="4518393"/>
            <a:ext cx="536981" cy="536981"/>
          </a:xfrm>
          <a:prstGeom prst="ellipse">
            <a:avLst/>
          </a:prstGeom>
          <a:solidFill>
            <a:srgbClr val="46D8EE"/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48740" y="2071116"/>
            <a:ext cx="2519172" cy="2519172"/>
          </a:xfrm>
          <a:prstGeom prst="ellipse">
            <a:avLst/>
          </a:prstGeom>
          <a:solidFill>
            <a:srgbClr val="35E67B">
              <a:alpha val="7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12798" y="2535174"/>
            <a:ext cx="1591056" cy="1591056"/>
          </a:xfrm>
          <a:prstGeom prst="ellipse">
            <a:avLst/>
          </a:prstGeom>
          <a:solidFill>
            <a:srgbClr val="35E67B">
              <a:alpha val="11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82446" y="2165756"/>
            <a:ext cx="1789938" cy="457657"/>
          </a:xfrm>
          <a:prstGeom prst="roundRect">
            <a:avLst>
              <a:gd name="adj" fmla="val 23976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448181" y="2228164"/>
            <a:ext cx="1325880" cy="29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CITY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818120" y="2057400"/>
            <a:ext cx="3291840" cy="713232"/>
          </a:xfrm>
          <a:prstGeom prst="roundRect">
            <a:avLst>
              <a:gd name="adj" fmla="val 15385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92440" y="2286000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ENERGY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092440" y="24871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Glow, never false precision.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818120" y="3017520"/>
            <a:ext cx="3291840" cy="713232"/>
          </a:xfrm>
          <a:prstGeom prst="roundRect">
            <a:avLst>
              <a:gd name="adj" fmla="val 15385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92440" y="3246120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092440" y="344728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Opt-in, nightly, self-expiring.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818120" y="3977640"/>
            <a:ext cx="3291840" cy="713232"/>
          </a:xfrm>
          <a:prstGeom prst="roundRect">
            <a:avLst>
              <a:gd name="adj" fmla="val 15385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92440" y="4206240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092440" y="44074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becomes actionable.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ACCESS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makes “maybe” actionable.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host decides. The user gets a clear, safe state.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2377440" cy="4069080"/>
          </a:xfrm>
          <a:prstGeom prst="roundRect">
            <a:avLst>
              <a:gd name="adj" fmla="val 4615"/>
            </a:avLst>
          </a:prstGeom>
          <a:solidFill>
            <a:srgbClr val="050506"/>
          </a:solidFill>
          <a:ln w="8890">
            <a:solidFill>
              <a:srgbClr val="C9CBD4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65376"/>
            <a:ext cx="2249424" cy="3867912"/>
          </a:xfrm>
          <a:prstGeom prst="roundRect">
            <a:avLst>
              <a:gd name="adj" fmla="val 4878"/>
            </a:avLst>
          </a:prstGeom>
          <a:solidFill>
            <a:srgbClr val="0F1013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0667" y="1783080"/>
            <a:ext cx="570586" cy="36576"/>
          </a:xfrm>
          <a:prstGeom prst="roundRect">
            <a:avLst>
              <a:gd name="adj" fmla="val 300000"/>
            </a:avLst>
          </a:prstGeom>
          <a:solidFill>
            <a:srgbClr val="20232A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883664"/>
            <a:ext cx="2231136" cy="1017270"/>
          </a:xfrm>
          <a:prstGeom prst="roundRect">
            <a:avLst>
              <a:gd name="adj" fmla="val 10787"/>
            </a:avLst>
          </a:prstGeom>
          <a:solidFill>
            <a:srgbClr val="9D75FF">
              <a:alpha val="68000"/>
            </a:srgbClr>
          </a:solidFill>
          <a:ln w="8890">
            <a:solidFill>
              <a:srgbClr val="9D75FF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93392"/>
            <a:ext cx="1956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/ PRIVATE PLAN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87552" y="220370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place worth getting to.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77190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05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SHOWN UNTIL ACCEPTED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60120" y="4056736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138117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ACCESS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5879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25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PLAN / FUTURE VISION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749040" y="2057400"/>
            <a:ext cx="3063240" cy="2697480"/>
          </a:xfrm>
          <a:prstGeom prst="roundRect">
            <a:avLst>
              <a:gd name="adj" fmla="val 4068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41648" y="235915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ACCESS MODEL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041648" y="27432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→ accept → coordinate.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041648" y="36758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 size is information on a request, not a permanent group to administer.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06640" y="2194560"/>
            <a:ext cx="0" cy="2788920"/>
          </a:xfrm>
          <a:prstGeom prst="line">
            <a:avLst/>
          </a:prstGeom>
          <a:noFill/>
          <a:ln w="12700">
            <a:solidFill>
              <a:srgbClr val="535762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7955280" y="23957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PLACE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955280" y="2788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address stays protected until the correct acceptance state.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955280" y="39776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prototype demonstrates this flow with seeded data. Production requires server-side enforcement, verification, moderation, and auditability.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TRUST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is part of the product, not a settings page.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visual promise only matters if the operating system underneath it is real.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4892040" cy="1170432"/>
          </a:xfrm>
          <a:prstGeom prst="roundRect">
            <a:avLst>
              <a:gd name="adj" fmla="val 9375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2331720"/>
            <a:ext cx="219456" cy="219456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22768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5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89888" y="2587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person appears without choosing tonight.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4892040" cy="1170432"/>
          </a:xfrm>
          <a:prstGeom prst="roundRect">
            <a:avLst>
              <a:gd name="adj" fmla="val 9375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1384" y="2331720"/>
            <a:ext cx="219456" cy="219456"/>
          </a:xfrm>
          <a:prstGeom prst="ellipse">
            <a:avLst/>
          </a:prstGeom>
          <a:solidFill>
            <a:srgbClr val="5E82FF"/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22008" y="22768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5" kern="0" dirty="0">
                <a:solidFill>
                  <a:srgbClr val="5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22008" y="2587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viewer receives only the permitted view.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4892040" cy="1170432"/>
          </a:xfrm>
          <a:prstGeom prst="roundRect">
            <a:avLst>
              <a:gd name="adj" fmla="val 9375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" y="3931920"/>
            <a:ext cx="219456" cy="219456"/>
          </a:xfrm>
          <a:prstGeom prst="ellipse">
            <a:avLst/>
          </a:prstGeom>
          <a:solidFill>
            <a:srgbClr val="9D75FF"/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9888" y="38770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5" kern="0" dirty="0">
                <a:solidFill>
                  <a:srgbClr val="9D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89888" y="4187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 and businesses have real identity paths.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63640" y="3657600"/>
            <a:ext cx="4892040" cy="1170432"/>
          </a:xfrm>
          <a:prstGeom prst="roundRect">
            <a:avLst>
              <a:gd name="adj" fmla="val 9375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1384" y="3931920"/>
            <a:ext cx="219456" cy="219456"/>
          </a:xfrm>
          <a:prstGeom prst="ellipse">
            <a:avLst/>
          </a:prstGeom>
          <a:solidFill>
            <a:srgbClr val="F05B66"/>
          </a:solidFill>
          <a:ln w="12700">
            <a:solidFill>
              <a:srgbClr val="F05B6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2008" y="38770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5" kern="0" dirty="0">
                <a:solidFill>
                  <a:srgbClr val="F0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22008" y="4187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Report, block, moderate, escalate.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548640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prototype models the privacy behaviour. It does not yet provide production security.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POSITION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wedge is the specialised nightlife graph.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can copy individual features. The system becomes defensible through density and trust.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6712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77640" y="2167128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+ social graph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06640" y="21671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night-specific intent + access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89864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77640" y="2898648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places + navigation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06640" y="289864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atmosphere + participation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63016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Partiful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77640" y="3630168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coordination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06640" y="363016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before the invitation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20624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36168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Map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77640" y="4361688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friend/place map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06640" y="436168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actionable, safety-led nightlife context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54864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hypothesis — not yet a proven moat.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 real product to build 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prototype proves behaviour and architecture — not yet demand or production readiness.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0" y="1947672"/>
            <a:ext cx="7040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Mapbox globe, local map, discovery, pins and clustering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0" y="2313432"/>
            <a:ext cx="8321040" cy="0"/>
          </a:xfrm>
          <a:prstGeom prst="line">
            <a:avLst/>
          </a:prstGeom>
          <a:noFill/>
          <a:ln w="8890">
            <a:solidFill>
              <a:srgbClr val="535762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914400" y="2670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60320" y="2651760"/>
            <a:ext cx="7040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request, review, accept, reveal and chat flows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60320" y="3017520"/>
            <a:ext cx="8321040" cy="0"/>
          </a:xfrm>
          <a:prstGeom prst="line">
            <a:avLst/>
          </a:prstGeom>
          <a:noFill/>
          <a:ln w="8890">
            <a:solidFill>
              <a:srgbClr val="535762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914400" y="337413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0" y="3355848"/>
            <a:ext cx="7040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Viewer-relative projections for people, venues and private plans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560320" y="3721608"/>
            <a:ext cx="8321040" cy="0"/>
          </a:xfrm>
          <a:prstGeom prst="line">
            <a:avLst/>
          </a:prstGeom>
          <a:noFill/>
          <a:ln w="8890">
            <a:solidFill>
              <a:srgbClr val="535762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14400" y="407822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0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0" y="4059936"/>
            <a:ext cx="7040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backend, auth, persistence, moderation or server security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560320" y="4425696"/>
            <a:ext cx="8321040" cy="0"/>
          </a:xfrm>
          <a:prstGeom prst="line">
            <a:avLst/>
          </a:prstGeom>
          <a:noFill/>
          <a:ln w="8890">
            <a:solidFill>
              <a:srgbClr val="535762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868680" y="5166360"/>
            <a:ext cx="3200400" cy="438912"/>
          </a:xfrm>
          <a:prstGeom prst="roundRect">
            <a:avLst>
              <a:gd name="adj" fmla="val 25000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312664"/>
            <a:ext cx="2834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 CASES / 144 PASSING / 3 KNOWN RESIDUALS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THE BUILD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milestone is trust infrastructure.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production work starts behind the screens.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2304288" cy="2377440"/>
          </a:xfrm>
          <a:prstGeom prst="roundRect">
            <a:avLst>
              <a:gd name="adj" fmla="val 4762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231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3035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 + DEMAND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sessions, core-loop evidence, final launch slice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66160" y="2148840"/>
            <a:ext cx="2304288" cy="2377440"/>
          </a:xfrm>
          <a:prstGeom prst="roundRect">
            <a:avLst>
              <a:gd name="adj" fmla="val 4762"/>
            </a:avLst>
          </a:prstGeom>
          <a:solidFill>
            <a:srgbClr val="20232A"/>
          </a:solidFill>
          <a:ln w="8890">
            <a:solidFill>
              <a:srgbClr val="35E67B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4231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94760" y="3035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FOUNDATION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94760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verification, server privacy, Pool state, messaging, moderation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55080" y="2148840"/>
            <a:ext cx="2304288" cy="2377440"/>
          </a:xfrm>
          <a:prstGeom prst="roundRect">
            <a:avLst>
              <a:gd name="adj" fmla="val 4762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4231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3035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ALPHA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city, adult cohort, trusted supply, manual safety operations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0" y="2148840"/>
            <a:ext cx="2304288" cy="2377440"/>
          </a:xfrm>
          <a:prstGeom prst="roundRect">
            <a:avLst>
              <a:gd name="adj" fmla="val 4762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24231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72600" y="3035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 + EXPANSION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72600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Media, business tools, premium and more cities only when earned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CITY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dense, not everywhere.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Francisco is the prototype/pilot world. Los Angeles is the next intended market.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20232A"/>
          </a:solidFill>
          <a:ln w="8890">
            <a:solidFill>
              <a:srgbClr val="35E67B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4231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28529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430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concentrated nightlife graph, observed closely.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74920" y="3154680"/>
            <a:ext cx="1783080" cy="0"/>
          </a:xfrm>
          <a:prstGeom prst="line">
            <a:avLst/>
          </a:prstGeom>
          <a:noFill/>
          <a:ln w="16510">
            <a:solidFill>
              <a:srgbClr val="53576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729984" y="3026664"/>
            <a:ext cx="256032" cy="256032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205740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24231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35240" y="28529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ANGELES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63524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after the loop earns density and trust.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 people. Valuable to accountable venues.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model is a hypothesis to validate after consumer utility is real.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 map and access layer for the night.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206240" y="2057400"/>
            <a:ext cx="0" cy="2651760"/>
          </a:xfrm>
          <a:prstGeom prst="line">
            <a:avLst/>
          </a:prstGeom>
          <a:noFill/>
          <a:ln w="1270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800600" y="21488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D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00600" y="2514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identity, event publishing, request handling and future visibility tools.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138160" y="2057400"/>
            <a:ext cx="0" cy="2651760"/>
          </a:xfrm>
          <a:prstGeom prst="line">
            <a:avLst/>
          </a:prstGeom>
          <a:noFill/>
          <a:ln w="1270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8732520" y="21488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32520" y="25146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promotes and connects. It does not take ticket money in the current direction.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5303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Willingness to pay remains unvalidated.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THE ASK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buys the production foundation and the first honest test.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amount should be set after professional technical scoping, not invented for the slide.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41248" y="2075688"/>
            <a:ext cx="329184" cy="329184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14884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SAFE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2039112"/>
            <a:ext cx="7040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ID/business verification, server privacy, moderation and auditability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" y="3063240"/>
            <a:ext cx="329184" cy="329184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13639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08760" y="3044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USABLE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3026664"/>
            <a:ext cx="7040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visual system and production-quality core loop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4050792"/>
            <a:ext cx="329184" cy="329184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412394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08760" y="40325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OBSERVABLE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4014216"/>
            <a:ext cx="7040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alpha, evidence, support and incident response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5303520"/>
            <a:ext cx="4754880" cy="411480"/>
          </a:xfrm>
          <a:prstGeom prst="roundRect">
            <a:avLst>
              <a:gd name="adj" fmla="val 26667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440680"/>
            <a:ext cx="4297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AMOUNT / RUNWAY: TO BE COSTED WITH TECHNICAL LEAD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8485"/>
            <a:ext cx="615163" cy="321777"/>
          </a:xfrm>
          <a:prstGeom prst="ellipse">
            <a:avLst/>
          </a:prstGeom>
          <a:solidFill>
            <a:srgbClr val="080809">
              <a:alpha val="0"/>
            </a:srgbClr>
          </a:solidFill>
          <a:ln w="10516">
            <a:solidFill>
              <a:srgbClr val="C9CB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6041" y="749465"/>
            <a:ext cx="179817" cy="179817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0459" y="803883"/>
            <a:ext cx="70980" cy="70980"/>
          </a:xfrm>
          <a:prstGeom prst="ellipse">
            <a:avLst/>
          </a:prstGeom>
          <a:solidFill>
            <a:srgbClr val="080809"/>
          </a:solidFill>
          <a:ln w="12700">
            <a:solidFill>
              <a:srgbClr val="0808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3429" y="594360"/>
            <a:ext cx="1261872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70" b="1" spc="-3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func.</a:t>
            </a:r>
            <a:endParaRPr lang="en-US" sz="207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NIGHT OUT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PRODUCT.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13232" y="34290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makes the city legible — then gets out of the way.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0" y="11887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0F1013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07224" y="4433926"/>
            <a:ext cx="883310" cy="-2080260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390534" y="2353666"/>
            <a:ext cx="192024" cy="-956920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582558" y="1396746"/>
            <a:ext cx="844906" cy="624078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427464" y="2020824"/>
            <a:ext cx="1574597" cy="-499262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392010" y="2104034"/>
            <a:ext cx="883310" cy="748894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8275320" y="2852928"/>
            <a:ext cx="883310" cy="-332842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158630" y="2520086"/>
            <a:ext cx="921715" cy="832104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0080346" y="3352190"/>
            <a:ext cx="998525" cy="-499262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8083296" y="1355141"/>
            <a:ext cx="268834" cy="873709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8352130" y="2228850"/>
            <a:ext cx="883310" cy="832104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235440" y="3060954"/>
            <a:ext cx="460858" cy="1372972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696298" y="4433926"/>
            <a:ext cx="844906" cy="748894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776058" y="5266030"/>
            <a:ext cx="806501" cy="-1164946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8582558" y="4101084"/>
            <a:ext cx="576072" cy="-748894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158630" y="3352190"/>
            <a:ext cx="1075334" cy="-998525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233965" y="2353666"/>
            <a:ext cx="729691" cy="-457657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0579608" y="3310585"/>
            <a:ext cx="153619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8774582" y="4101084"/>
            <a:ext cx="153619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0195560" y="1646377"/>
            <a:ext cx="153619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8390534" y="2436876"/>
            <a:ext cx="153619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811512" y="3227375"/>
            <a:ext cx="153619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8006486" y="4017874"/>
            <a:ext cx="153619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427464" y="4808372"/>
            <a:ext cx="153619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7622438" y="2353666"/>
            <a:ext cx="153619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043416" y="3144164"/>
            <a:ext cx="153619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0464394" y="3934663"/>
            <a:ext cx="153619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8659368" y="4725162"/>
            <a:ext cx="153619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0080346" y="2270455"/>
            <a:ext cx="153619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8275320" y="3060954"/>
            <a:ext cx="153619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9696298" y="3851453"/>
            <a:ext cx="153619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7891272" y="4641952"/>
            <a:ext cx="153619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312250" y="2187245"/>
            <a:ext cx="153619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10733227" y="2977744"/>
            <a:ext cx="153619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8928202" y="3768242"/>
            <a:ext cx="153619" cy="8321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7929677" y="2142439"/>
            <a:ext cx="921715" cy="921715"/>
          </a:xfrm>
          <a:prstGeom prst="ellipse">
            <a:avLst/>
          </a:prstGeom>
          <a:solidFill>
            <a:srgbClr val="35E67B">
              <a:alpha val="25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83148" y="2395911"/>
            <a:ext cx="414772" cy="414772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58630" y="2760116"/>
            <a:ext cx="768096" cy="768096"/>
          </a:xfrm>
          <a:prstGeom prst="ellipse">
            <a:avLst/>
          </a:prstGeom>
          <a:solidFill>
            <a:srgbClr val="5E82FF">
              <a:alpha val="25000"/>
            </a:srgbClr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69857" y="2971343"/>
            <a:ext cx="345643" cy="345643"/>
          </a:xfrm>
          <a:prstGeom prst="ellipse">
            <a:avLst/>
          </a:prstGeom>
          <a:solidFill>
            <a:srgbClr val="5E82FF"/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96298" y="1844802"/>
            <a:ext cx="768096" cy="768096"/>
          </a:xfrm>
          <a:prstGeom prst="ellipse">
            <a:avLst/>
          </a:prstGeom>
          <a:solidFill>
            <a:srgbClr val="9D75FF">
              <a:alpha val="25000"/>
            </a:srgbClr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07524" y="2056028"/>
            <a:ext cx="345643" cy="345643"/>
          </a:xfrm>
          <a:prstGeom prst="ellipse">
            <a:avLst/>
          </a:prstGeom>
          <a:solidFill>
            <a:srgbClr val="9D75FF"/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01761" y="3857854"/>
            <a:ext cx="652882" cy="652882"/>
          </a:xfrm>
          <a:prstGeom prst="ellipse">
            <a:avLst/>
          </a:prstGeom>
          <a:solidFill>
            <a:srgbClr val="FF6BAE">
              <a:alpha val="25000"/>
            </a:srgbClr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81303" y="4037396"/>
            <a:ext cx="293797" cy="293797"/>
          </a:xfrm>
          <a:prstGeom prst="ellipse">
            <a:avLst/>
          </a:prstGeom>
          <a:solidFill>
            <a:srgbClr val="FF6BAE"/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965131" y="3755441"/>
            <a:ext cx="691286" cy="691286"/>
          </a:xfrm>
          <a:prstGeom prst="ellipse">
            <a:avLst/>
          </a:prstGeom>
          <a:solidFill>
            <a:srgbClr val="46D8EE">
              <a:alpha val="25000"/>
            </a:srgbClr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55235" y="3945545"/>
            <a:ext cx="311079" cy="311079"/>
          </a:xfrm>
          <a:prstGeom prst="ellipse">
            <a:avLst/>
          </a:prstGeom>
          <a:solidFill>
            <a:srgbClr val="46D8EE"/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99248" y="1915211"/>
            <a:ext cx="1459382" cy="1459382"/>
          </a:xfrm>
          <a:prstGeom prst="ellipse">
            <a:avLst/>
          </a:prstGeom>
          <a:solidFill>
            <a:srgbClr val="35E67B">
              <a:alpha val="7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68082" y="2184044"/>
            <a:ext cx="921715" cy="921715"/>
          </a:xfrm>
          <a:prstGeom prst="ellipse">
            <a:avLst/>
          </a:prstGeom>
          <a:solidFill>
            <a:srgbClr val="35E67B">
              <a:alpha val="11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60843" y="1479956"/>
            <a:ext cx="1036930" cy="457657"/>
          </a:xfrm>
          <a:prstGeom prst="roundRect">
            <a:avLst>
              <a:gd name="adj" fmla="val 23976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6855" y="1542364"/>
            <a:ext cx="768096" cy="29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CITY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GENERATED FROM BIBLE 1.0 + PRD 1.0 DRAFT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Func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 — Investor Vision</dc:title>
  <dc:subject>Investor presentation generated from Func source-of-truth pack v1.0 draft</dc:subject>
  <dc:creator>Func</dc:creator>
  <cp:lastModifiedBy>Func</cp:lastModifiedBy>
  <cp:revision>1</cp:revision>
  <dcterms:created xsi:type="dcterms:W3CDTF">2026-08-25T10:47:50Z</dcterms:created>
  <dcterms:modified xsi:type="dcterms:W3CDTF">2026-08-25T10:47:50Z</dcterms:modified>
</cp:coreProperties>
</file>